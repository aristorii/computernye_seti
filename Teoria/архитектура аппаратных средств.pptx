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265" r:id="rId64"/>
    <p:sldId id="320" r:id="rId6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131D138-2F6B-4B3D-823A-621724103B13}" type="doc">
      <dgm:prSet loTypeId="urn:microsoft.com/office/officeart/2005/8/layout/orgChart1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ru-RU"/>
        </a:p>
      </dgm:t>
    </dgm:pt>
    <dgm:pt modelId="{8FD9468A-587D-443A-9D42-C71BD9A0EC8F}">
      <dgm:prSet phldrT="[Текст]" custT="1"/>
      <dgm:spPr/>
      <dgm:t>
        <a:bodyPr/>
        <a:lstStyle/>
        <a:p>
          <a:r>
            <a:rPr lang="ru-RU" sz="2400" dirty="0"/>
            <a:t>Вычислительные машины</a:t>
          </a:r>
        </a:p>
      </dgm:t>
    </dgm:pt>
    <dgm:pt modelId="{1D69B9A7-5D6A-4D76-87C7-DF439CC7E287}" type="parTrans" cxnId="{4E716370-3C04-4353-B2C6-D1877535BF46}">
      <dgm:prSet/>
      <dgm:spPr/>
      <dgm:t>
        <a:bodyPr/>
        <a:lstStyle/>
        <a:p>
          <a:endParaRPr lang="ru-RU" sz="2400"/>
        </a:p>
      </dgm:t>
    </dgm:pt>
    <dgm:pt modelId="{ECDBABEE-3AF2-4853-B88E-85D6029BD15B}" type="sibTrans" cxnId="{4E716370-3C04-4353-B2C6-D1877535BF46}">
      <dgm:prSet/>
      <dgm:spPr/>
      <dgm:t>
        <a:bodyPr/>
        <a:lstStyle/>
        <a:p>
          <a:endParaRPr lang="ru-RU" sz="2400"/>
        </a:p>
      </dgm:t>
    </dgm:pt>
    <dgm:pt modelId="{7FC0C618-B932-4D03-A169-AD4670F04AA9}" type="asst">
      <dgm:prSet phldrT="[Текст]" custT="1"/>
      <dgm:spPr/>
      <dgm:t>
        <a:bodyPr/>
        <a:lstStyle/>
        <a:p>
          <a:r>
            <a:rPr lang="ru-RU" sz="2400" dirty="0"/>
            <a:t>1. Универсальные </a:t>
          </a:r>
        </a:p>
      </dgm:t>
    </dgm:pt>
    <dgm:pt modelId="{EC626AB3-23D6-4E9A-BA67-E6B645B7CB3C}" type="parTrans" cxnId="{5B2827D3-00DB-4A39-8309-804F90C2C653}">
      <dgm:prSet/>
      <dgm:spPr/>
      <dgm:t>
        <a:bodyPr/>
        <a:lstStyle/>
        <a:p>
          <a:endParaRPr lang="ru-RU" sz="2400"/>
        </a:p>
      </dgm:t>
    </dgm:pt>
    <dgm:pt modelId="{5C608C14-712C-4E4D-ADC5-FA781D26DCB9}" type="sibTrans" cxnId="{5B2827D3-00DB-4A39-8309-804F90C2C653}">
      <dgm:prSet/>
      <dgm:spPr/>
      <dgm:t>
        <a:bodyPr/>
        <a:lstStyle/>
        <a:p>
          <a:endParaRPr lang="ru-RU" sz="2400"/>
        </a:p>
      </dgm:t>
    </dgm:pt>
    <dgm:pt modelId="{ECE4FD0C-9BDF-4EFD-A6FB-778277E749FC}">
      <dgm:prSet phldrT="[Текст]" custT="1"/>
      <dgm:spPr/>
      <dgm:t>
        <a:bodyPr/>
        <a:lstStyle/>
        <a:p>
          <a:r>
            <a:rPr lang="ru-RU" sz="2400" dirty="0"/>
            <a:t>3. Специализированные</a:t>
          </a:r>
        </a:p>
      </dgm:t>
    </dgm:pt>
    <dgm:pt modelId="{84ECB0C0-3C24-40AA-86C9-67C36D532F2A}" type="parTrans" cxnId="{D9CCF964-869F-4311-97DB-9CED7644C0CB}">
      <dgm:prSet/>
      <dgm:spPr/>
      <dgm:t>
        <a:bodyPr/>
        <a:lstStyle/>
        <a:p>
          <a:endParaRPr lang="ru-RU" sz="2400"/>
        </a:p>
      </dgm:t>
    </dgm:pt>
    <dgm:pt modelId="{D115306E-7F4B-4DAD-901B-383AD70EAAC8}" type="sibTrans" cxnId="{D9CCF964-869F-4311-97DB-9CED7644C0CB}">
      <dgm:prSet/>
      <dgm:spPr/>
      <dgm:t>
        <a:bodyPr/>
        <a:lstStyle/>
        <a:p>
          <a:endParaRPr lang="ru-RU" sz="2400"/>
        </a:p>
      </dgm:t>
    </dgm:pt>
    <dgm:pt modelId="{F988951D-EAEB-43F9-9C1B-CF0445EEE2E5}" type="asst">
      <dgm:prSet custT="1"/>
      <dgm:spPr/>
      <dgm:t>
        <a:bodyPr/>
        <a:lstStyle/>
        <a:p>
          <a:r>
            <a:rPr lang="ru-RU" sz="2400" dirty="0"/>
            <a:t>2. Проблемно-ориентированные</a:t>
          </a:r>
        </a:p>
      </dgm:t>
    </dgm:pt>
    <dgm:pt modelId="{94FBC323-A287-49EC-A661-1F6B2000A346}" type="parTrans" cxnId="{F133B291-B7E1-4396-879B-D360A6E0685D}">
      <dgm:prSet/>
      <dgm:spPr/>
      <dgm:t>
        <a:bodyPr/>
        <a:lstStyle/>
        <a:p>
          <a:endParaRPr lang="ru-RU" sz="2400"/>
        </a:p>
      </dgm:t>
    </dgm:pt>
    <dgm:pt modelId="{28D3AC1F-FAFD-40CD-BF74-27953982C561}" type="sibTrans" cxnId="{F133B291-B7E1-4396-879B-D360A6E0685D}">
      <dgm:prSet/>
      <dgm:spPr/>
      <dgm:t>
        <a:bodyPr/>
        <a:lstStyle/>
        <a:p>
          <a:endParaRPr lang="ru-RU" sz="2400"/>
        </a:p>
      </dgm:t>
    </dgm:pt>
    <dgm:pt modelId="{D57E4BEB-7A89-4FBD-9997-137A3488F855}" type="pres">
      <dgm:prSet presAssocID="{1131D138-2F6B-4B3D-823A-621724103B13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B783086F-E6F9-4545-B92F-34E88E2492F2}" type="pres">
      <dgm:prSet presAssocID="{8FD9468A-587D-443A-9D42-C71BD9A0EC8F}" presName="hierRoot1" presStyleCnt="0">
        <dgm:presLayoutVars>
          <dgm:hierBranch val="init"/>
        </dgm:presLayoutVars>
      </dgm:prSet>
      <dgm:spPr/>
    </dgm:pt>
    <dgm:pt modelId="{99A2D9AC-0D07-4D3F-9040-32138A1C5BB2}" type="pres">
      <dgm:prSet presAssocID="{8FD9468A-587D-443A-9D42-C71BD9A0EC8F}" presName="rootComposite1" presStyleCnt="0"/>
      <dgm:spPr/>
    </dgm:pt>
    <dgm:pt modelId="{584A8905-ACE0-4681-8443-6ACA7039488B}" type="pres">
      <dgm:prSet presAssocID="{8FD9468A-587D-443A-9D42-C71BD9A0EC8F}" presName="rootText1" presStyleLbl="node0" presStyleIdx="0" presStyleCnt="1" custScaleX="158974">
        <dgm:presLayoutVars>
          <dgm:chPref val="3"/>
        </dgm:presLayoutVars>
      </dgm:prSet>
      <dgm:spPr/>
    </dgm:pt>
    <dgm:pt modelId="{5B285B1F-8D87-4F6F-9A64-D82C9DC926DA}" type="pres">
      <dgm:prSet presAssocID="{8FD9468A-587D-443A-9D42-C71BD9A0EC8F}" presName="rootConnector1" presStyleLbl="node1" presStyleIdx="0" presStyleCnt="0"/>
      <dgm:spPr/>
    </dgm:pt>
    <dgm:pt modelId="{BADBEB9A-6232-4B8B-BE9F-D4A3572A2564}" type="pres">
      <dgm:prSet presAssocID="{8FD9468A-587D-443A-9D42-C71BD9A0EC8F}" presName="hierChild2" presStyleCnt="0"/>
      <dgm:spPr/>
    </dgm:pt>
    <dgm:pt modelId="{3A1DD85A-B5ED-4B78-8815-F630B625806D}" type="pres">
      <dgm:prSet presAssocID="{84ECB0C0-3C24-40AA-86C9-67C36D532F2A}" presName="Name37" presStyleLbl="parChTrans1D2" presStyleIdx="0" presStyleCnt="3"/>
      <dgm:spPr/>
    </dgm:pt>
    <dgm:pt modelId="{1A73E25E-7D86-4C48-949B-601E259E51C0}" type="pres">
      <dgm:prSet presAssocID="{ECE4FD0C-9BDF-4EFD-A6FB-778277E749FC}" presName="hierRoot2" presStyleCnt="0">
        <dgm:presLayoutVars>
          <dgm:hierBranch val="init"/>
        </dgm:presLayoutVars>
      </dgm:prSet>
      <dgm:spPr/>
    </dgm:pt>
    <dgm:pt modelId="{C988D4A7-58C9-43EE-B17D-9A3F37F9290E}" type="pres">
      <dgm:prSet presAssocID="{ECE4FD0C-9BDF-4EFD-A6FB-778277E749FC}" presName="rootComposite" presStyleCnt="0"/>
      <dgm:spPr/>
    </dgm:pt>
    <dgm:pt modelId="{A147AA0E-A43C-4EE6-84AF-A6698905A5A7}" type="pres">
      <dgm:prSet presAssocID="{ECE4FD0C-9BDF-4EFD-A6FB-778277E749FC}" presName="rootText" presStyleLbl="node2" presStyleIdx="0" presStyleCnt="1" custScaleX="157556">
        <dgm:presLayoutVars>
          <dgm:chPref val="3"/>
        </dgm:presLayoutVars>
      </dgm:prSet>
      <dgm:spPr/>
    </dgm:pt>
    <dgm:pt modelId="{96E0CFE2-53DE-417F-9F82-54A138903191}" type="pres">
      <dgm:prSet presAssocID="{ECE4FD0C-9BDF-4EFD-A6FB-778277E749FC}" presName="rootConnector" presStyleLbl="node2" presStyleIdx="0" presStyleCnt="1"/>
      <dgm:spPr/>
    </dgm:pt>
    <dgm:pt modelId="{5E4EB199-FDEC-4948-85B7-20FB6B84B168}" type="pres">
      <dgm:prSet presAssocID="{ECE4FD0C-9BDF-4EFD-A6FB-778277E749FC}" presName="hierChild4" presStyleCnt="0"/>
      <dgm:spPr/>
    </dgm:pt>
    <dgm:pt modelId="{5C995867-42F6-471C-B6A6-79BC1FE920C5}" type="pres">
      <dgm:prSet presAssocID="{ECE4FD0C-9BDF-4EFD-A6FB-778277E749FC}" presName="hierChild5" presStyleCnt="0"/>
      <dgm:spPr/>
    </dgm:pt>
    <dgm:pt modelId="{C541D5BA-89D2-4757-9526-95B8A1098728}" type="pres">
      <dgm:prSet presAssocID="{8FD9468A-587D-443A-9D42-C71BD9A0EC8F}" presName="hierChild3" presStyleCnt="0"/>
      <dgm:spPr/>
    </dgm:pt>
    <dgm:pt modelId="{DFAF47DF-99CA-4976-8614-EEAE24C5A637}" type="pres">
      <dgm:prSet presAssocID="{EC626AB3-23D6-4E9A-BA67-E6B645B7CB3C}" presName="Name111" presStyleLbl="parChTrans1D2" presStyleIdx="1" presStyleCnt="3"/>
      <dgm:spPr/>
    </dgm:pt>
    <dgm:pt modelId="{8E729F67-CE9E-4475-9734-32F7E66CB723}" type="pres">
      <dgm:prSet presAssocID="{7FC0C618-B932-4D03-A169-AD4670F04AA9}" presName="hierRoot3" presStyleCnt="0">
        <dgm:presLayoutVars>
          <dgm:hierBranch val="init"/>
        </dgm:presLayoutVars>
      </dgm:prSet>
      <dgm:spPr/>
    </dgm:pt>
    <dgm:pt modelId="{7E76AB91-8916-413D-ADF2-EC725141C1F4}" type="pres">
      <dgm:prSet presAssocID="{7FC0C618-B932-4D03-A169-AD4670F04AA9}" presName="rootComposite3" presStyleCnt="0"/>
      <dgm:spPr/>
    </dgm:pt>
    <dgm:pt modelId="{D806134B-4FE5-48A4-A7B2-E707F4E2DE15}" type="pres">
      <dgm:prSet presAssocID="{7FC0C618-B932-4D03-A169-AD4670F04AA9}" presName="rootText3" presStyleLbl="asst1" presStyleIdx="0" presStyleCnt="2" custScaleX="134414">
        <dgm:presLayoutVars>
          <dgm:chPref val="3"/>
        </dgm:presLayoutVars>
      </dgm:prSet>
      <dgm:spPr/>
    </dgm:pt>
    <dgm:pt modelId="{88643D99-9CC7-49EB-8BCE-EC35E65EDE03}" type="pres">
      <dgm:prSet presAssocID="{7FC0C618-B932-4D03-A169-AD4670F04AA9}" presName="rootConnector3" presStyleLbl="asst1" presStyleIdx="0" presStyleCnt="2"/>
      <dgm:spPr/>
    </dgm:pt>
    <dgm:pt modelId="{A98E3D5B-1384-412E-9A92-6B246CE94667}" type="pres">
      <dgm:prSet presAssocID="{7FC0C618-B932-4D03-A169-AD4670F04AA9}" presName="hierChild6" presStyleCnt="0"/>
      <dgm:spPr/>
    </dgm:pt>
    <dgm:pt modelId="{D6D61300-08E9-4449-AD20-E439771BE907}" type="pres">
      <dgm:prSet presAssocID="{7FC0C618-B932-4D03-A169-AD4670F04AA9}" presName="hierChild7" presStyleCnt="0"/>
      <dgm:spPr/>
    </dgm:pt>
    <dgm:pt modelId="{AB20A7E6-1028-4CFB-BACF-1EC7B59C1EF8}" type="pres">
      <dgm:prSet presAssocID="{94FBC323-A287-49EC-A661-1F6B2000A346}" presName="Name111" presStyleLbl="parChTrans1D2" presStyleIdx="2" presStyleCnt="3"/>
      <dgm:spPr/>
    </dgm:pt>
    <dgm:pt modelId="{657F9A4E-277E-4A9C-A398-3A1546B2A631}" type="pres">
      <dgm:prSet presAssocID="{F988951D-EAEB-43F9-9C1B-CF0445EEE2E5}" presName="hierRoot3" presStyleCnt="0">
        <dgm:presLayoutVars>
          <dgm:hierBranch val="init"/>
        </dgm:presLayoutVars>
      </dgm:prSet>
      <dgm:spPr/>
    </dgm:pt>
    <dgm:pt modelId="{4DDE5F0F-2FA0-45CD-AE1C-B8B605FC944E}" type="pres">
      <dgm:prSet presAssocID="{F988951D-EAEB-43F9-9C1B-CF0445EEE2E5}" presName="rootComposite3" presStyleCnt="0"/>
      <dgm:spPr/>
    </dgm:pt>
    <dgm:pt modelId="{B0EFC85C-95EC-470E-9785-3EA9CB1E1851}" type="pres">
      <dgm:prSet presAssocID="{F988951D-EAEB-43F9-9C1B-CF0445EEE2E5}" presName="rootText3" presStyleLbl="asst1" presStyleIdx="1" presStyleCnt="2" custScaleX="119899">
        <dgm:presLayoutVars>
          <dgm:chPref val="3"/>
        </dgm:presLayoutVars>
      </dgm:prSet>
      <dgm:spPr/>
    </dgm:pt>
    <dgm:pt modelId="{A20C8BED-5787-49A8-AD85-2F8C52A79371}" type="pres">
      <dgm:prSet presAssocID="{F988951D-EAEB-43F9-9C1B-CF0445EEE2E5}" presName="rootConnector3" presStyleLbl="asst1" presStyleIdx="1" presStyleCnt="2"/>
      <dgm:spPr/>
    </dgm:pt>
    <dgm:pt modelId="{302DE622-DF07-4DA1-99FF-CC6F6FBE97E3}" type="pres">
      <dgm:prSet presAssocID="{F988951D-EAEB-43F9-9C1B-CF0445EEE2E5}" presName="hierChild6" presStyleCnt="0"/>
      <dgm:spPr/>
    </dgm:pt>
    <dgm:pt modelId="{10D31C62-A841-4DEE-B062-2C502A7F11DA}" type="pres">
      <dgm:prSet presAssocID="{F988951D-EAEB-43F9-9C1B-CF0445EEE2E5}" presName="hierChild7" presStyleCnt="0"/>
      <dgm:spPr/>
    </dgm:pt>
  </dgm:ptLst>
  <dgm:cxnLst>
    <dgm:cxn modelId="{8F0A170B-6F75-466D-8141-C4995AE350C2}" type="presOf" srcId="{8FD9468A-587D-443A-9D42-C71BD9A0EC8F}" destId="{584A8905-ACE0-4681-8443-6ACA7039488B}" srcOrd="0" destOrd="0" presId="urn:microsoft.com/office/officeart/2005/8/layout/orgChart1"/>
    <dgm:cxn modelId="{184D665E-2EDD-42B8-B98A-64CFFD27B1F3}" type="presOf" srcId="{ECE4FD0C-9BDF-4EFD-A6FB-778277E749FC}" destId="{A147AA0E-A43C-4EE6-84AF-A6698905A5A7}" srcOrd="0" destOrd="0" presId="urn:microsoft.com/office/officeart/2005/8/layout/orgChart1"/>
    <dgm:cxn modelId="{D9CCF964-869F-4311-97DB-9CED7644C0CB}" srcId="{8FD9468A-587D-443A-9D42-C71BD9A0EC8F}" destId="{ECE4FD0C-9BDF-4EFD-A6FB-778277E749FC}" srcOrd="2" destOrd="0" parTransId="{84ECB0C0-3C24-40AA-86C9-67C36D532F2A}" sibTransId="{D115306E-7F4B-4DAD-901B-383AD70EAAC8}"/>
    <dgm:cxn modelId="{6BE52E69-B71F-4E37-B59C-C1D2A7921C7F}" type="presOf" srcId="{94FBC323-A287-49EC-A661-1F6B2000A346}" destId="{AB20A7E6-1028-4CFB-BACF-1EC7B59C1EF8}" srcOrd="0" destOrd="0" presId="urn:microsoft.com/office/officeart/2005/8/layout/orgChart1"/>
    <dgm:cxn modelId="{8D58954C-E93D-4E66-B8F9-7A33CC362A85}" type="presOf" srcId="{7FC0C618-B932-4D03-A169-AD4670F04AA9}" destId="{88643D99-9CC7-49EB-8BCE-EC35E65EDE03}" srcOrd="1" destOrd="0" presId="urn:microsoft.com/office/officeart/2005/8/layout/orgChart1"/>
    <dgm:cxn modelId="{4E716370-3C04-4353-B2C6-D1877535BF46}" srcId="{1131D138-2F6B-4B3D-823A-621724103B13}" destId="{8FD9468A-587D-443A-9D42-C71BD9A0EC8F}" srcOrd="0" destOrd="0" parTransId="{1D69B9A7-5D6A-4D76-87C7-DF439CC7E287}" sibTransId="{ECDBABEE-3AF2-4853-B88E-85D6029BD15B}"/>
    <dgm:cxn modelId="{FC451071-0D2E-4B13-B305-4BD69BEF3E00}" type="presOf" srcId="{1131D138-2F6B-4B3D-823A-621724103B13}" destId="{D57E4BEB-7A89-4FBD-9997-137A3488F855}" srcOrd="0" destOrd="0" presId="urn:microsoft.com/office/officeart/2005/8/layout/orgChart1"/>
    <dgm:cxn modelId="{F133B291-B7E1-4396-879B-D360A6E0685D}" srcId="{8FD9468A-587D-443A-9D42-C71BD9A0EC8F}" destId="{F988951D-EAEB-43F9-9C1B-CF0445EEE2E5}" srcOrd="1" destOrd="0" parTransId="{94FBC323-A287-49EC-A661-1F6B2000A346}" sibTransId="{28D3AC1F-FAFD-40CD-BF74-27953982C561}"/>
    <dgm:cxn modelId="{DEED009E-DC80-4A87-A3B9-D327270E1416}" type="presOf" srcId="{8FD9468A-587D-443A-9D42-C71BD9A0EC8F}" destId="{5B285B1F-8D87-4F6F-9A64-D82C9DC926DA}" srcOrd="1" destOrd="0" presId="urn:microsoft.com/office/officeart/2005/8/layout/orgChart1"/>
    <dgm:cxn modelId="{B8CE01AB-8EFB-4AB7-B599-EE3F0EA8A09F}" type="presOf" srcId="{EC626AB3-23D6-4E9A-BA67-E6B645B7CB3C}" destId="{DFAF47DF-99CA-4976-8614-EEAE24C5A637}" srcOrd="0" destOrd="0" presId="urn:microsoft.com/office/officeart/2005/8/layout/orgChart1"/>
    <dgm:cxn modelId="{6E8591B6-31C3-4F2A-915A-3FE0193299B8}" type="presOf" srcId="{F988951D-EAEB-43F9-9C1B-CF0445EEE2E5}" destId="{A20C8BED-5787-49A8-AD85-2F8C52A79371}" srcOrd="1" destOrd="0" presId="urn:microsoft.com/office/officeart/2005/8/layout/orgChart1"/>
    <dgm:cxn modelId="{692C25C5-4549-4D95-8E1A-3FE7B74C0D90}" type="presOf" srcId="{F988951D-EAEB-43F9-9C1B-CF0445EEE2E5}" destId="{B0EFC85C-95EC-470E-9785-3EA9CB1E1851}" srcOrd="0" destOrd="0" presId="urn:microsoft.com/office/officeart/2005/8/layout/orgChart1"/>
    <dgm:cxn modelId="{5B2827D3-00DB-4A39-8309-804F90C2C653}" srcId="{8FD9468A-587D-443A-9D42-C71BD9A0EC8F}" destId="{7FC0C618-B932-4D03-A169-AD4670F04AA9}" srcOrd="0" destOrd="0" parTransId="{EC626AB3-23D6-4E9A-BA67-E6B645B7CB3C}" sibTransId="{5C608C14-712C-4E4D-ADC5-FA781D26DCB9}"/>
    <dgm:cxn modelId="{43918DDA-C340-45BE-BC0D-2AD6C13F317B}" type="presOf" srcId="{84ECB0C0-3C24-40AA-86C9-67C36D532F2A}" destId="{3A1DD85A-B5ED-4B78-8815-F630B625806D}" srcOrd="0" destOrd="0" presId="urn:microsoft.com/office/officeart/2005/8/layout/orgChart1"/>
    <dgm:cxn modelId="{C5A05CEC-7D2B-49E3-99BB-81A0C1D6AE69}" type="presOf" srcId="{7FC0C618-B932-4D03-A169-AD4670F04AA9}" destId="{D806134B-4FE5-48A4-A7B2-E707F4E2DE15}" srcOrd="0" destOrd="0" presId="urn:microsoft.com/office/officeart/2005/8/layout/orgChart1"/>
    <dgm:cxn modelId="{9DB0B0F1-9B39-45B6-8FCD-EA89A7BF4AF7}" type="presOf" srcId="{ECE4FD0C-9BDF-4EFD-A6FB-778277E749FC}" destId="{96E0CFE2-53DE-417F-9F82-54A138903191}" srcOrd="1" destOrd="0" presId="urn:microsoft.com/office/officeart/2005/8/layout/orgChart1"/>
    <dgm:cxn modelId="{D3744AFE-83BF-4BE8-88C7-F87C75D2F1CC}" type="presParOf" srcId="{D57E4BEB-7A89-4FBD-9997-137A3488F855}" destId="{B783086F-E6F9-4545-B92F-34E88E2492F2}" srcOrd="0" destOrd="0" presId="urn:microsoft.com/office/officeart/2005/8/layout/orgChart1"/>
    <dgm:cxn modelId="{977A75E2-AB83-435A-B3CF-8671551D97EF}" type="presParOf" srcId="{B783086F-E6F9-4545-B92F-34E88E2492F2}" destId="{99A2D9AC-0D07-4D3F-9040-32138A1C5BB2}" srcOrd="0" destOrd="0" presId="urn:microsoft.com/office/officeart/2005/8/layout/orgChart1"/>
    <dgm:cxn modelId="{31F86BCA-E671-47E2-8D5E-1388E708EBA9}" type="presParOf" srcId="{99A2D9AC-0D07-4D3F-9040-32138A1C5BB2}" destId="{584A8905-ACE0-4681-8443-6ACA7039488B}" srcOrd="0" destOrd="0" presId="urn:microsoft.com/office/officeart/2005/8/layout/orgChart1"/>
    <dgm:cxn modelId="{61C07B28-CEF9-41E5-9586-231A04E66E03}" type="presParOf" srcId="{99A2D9AC-0D07-4D3F-9040-32138A1C5BB2}" destId="{5B285B1F-8D87-4F6F-9A64-D82C9DC926DA}" srcOrd="1" destOrd="0" presId="urn:microsoft.com/office/officeart/2005/8/layout/orgChart1"/>
    <dgm:cxn modelId="{C883EC79-1B1B-4EF4-892F-518C25470FFD}" type="presParOf" srcId="{B783086F-E6F9-4545-B92F-34E88E2492F2}" destId="{BADBEB9A-6232-4B8B-BE9F-D4A3572A2564}" srcOrd="1" destOrd="0" presId="urn:microsoft.com/office/officeart/2005/8/layout/orgChart1"/>
    <dgm:cxn modelId="{46E0E14F-207A-4157-AC4F-9DC8E9FF7B95}" type="presParOf" srcId="{BADBEB9A-6232-4B8B-BE9F-D4A3572A2564}" destId="{3A1DD85A-B5ED-4B78-8815-F630B625806D}" srcOrd="0" destOrd="0" presId="urn:microsoft.com/office/officeart/2005/8/layout/orgChart1"/>
    <dgm:cxn modelId="{3AED22D4-058F-4C38-9DEF-D44A584B4114}" type="presParOf" srcId="{BADBEB9A-6232-4B8B-BE9F-D4A3572A2564}" destId="{1A73E25E-7D86-4C48-949B-601E259E51C0}" srcOrd="1" destOrd="0" presId="urn:microsoft.com/office/officeart/2005/8/layout/orgChart1"/>
    <dgm:cxn modelId="{D14B0459-0F9F-42DF-B1E5-B3B22AA32DFD}" type="presParOf" srcId="{1A73E25E-7D86-4C48-949B-601E259E51C0}" destId="{C988D4A7-58C9-43EE-B17D-9A3F37F9290E}" srcOrd="0" destOrd="0" presId="urn:microsoft.com/office/officeart/2005/8/layout/orgChart1"/>
    <dgm:cxn modelId="{539FA34D-24BF-4673-8D51-00E7D7EE2C7E}" type="presParOf" srcId="{C988D4A7-58C9-43EE-B17D-9A3F37F9290E}" destId="{A147AA0E-A43C-4EE6-84AF-A6698905A5A7}" srcOrd="0" destOrd="0" presId="urn:microsoft.com/office/officeart/2005/8/layout/orgChart1"/>
    <dgm:cxn modelId="{8FE87879-D2A3-41DA-9BBD-9F91A7B0C7AD}" type="presParOf" srcId="{C988D4A7-58C9-43EE-B17D-9A3F37F9290E}" destId="{96E0CFE2-53DE-417F-9F82-54A138903191}" srcOrd="1" destOrd="0" presId="urn:microsoft.com/office/officeart/2005/8/layout/orgChart1"/>
    <dgm:cxn modelId="{50A460B1-60ED-4BA8-8566-8BDC7D33D0F3}" type="presParOf" srcId="{1A73E25E-7D86-4C48-949B-601E259E51C0}" destId="{5E4EB199-FDEC-4948-85B7-20FB6B84B168}" srcOrd="1" destOrd="0" presId="urn:microsoft.com/office/officeart/2005/8/layout/orgChart1"/>
    <dgm:cxn modelId="{F266BC46-3213-4737-9514-91D9757E4CDC}" type="presParOf" srcId="{1A73E25E-7D86-4C48-949B-601E259E51C0}" destId="{5C995867-42F6-471C-B6A6-79BC1FE920C5}" srcOrd="2" destOrd="0" presId="urn:microsoft.com/office/officeart/2005/8/layout/orgChart1"/>
    <dgm:cxn modelId="{3EEE3473-DF48-4ADD-B3C6-D5E1C2529793}" type="presParOf" srcId="{B783086F-E6F9-4545-B92F-34E88E2492F2}" destId="{C541D5BA-89D2-4757-9526-95B8A1098728}" srcOrd="2" destOrd="0" presId="urn:microsoft.com/office/officeart/2005/8/layout/orgChart1"/>
    <dgm:cxn modelId="{2A78C476-31FF-493E-93A2-33BF649D6F57}" type="presParOf" srcId="{C541D5BA-89D2-4757-9526-95B8A1098728}" destId="{DFAF47DF-99CA-4976-8614-EEAE24C5A637}" srcOrd="0" destOrd="0" presId="urn:microsoft.com/office/officeart/2005/8/layout/orgChart1"/>
    <dgm:cxn modelId="{B4508B50-945A-47F1-9CBD-E74CB8FBBB5D}" type="presParOf" srcId="{C541D5BA-89D2-4757-9526-95B8A1098728}" destId="{8E729F67-CE9E-4475-9734-32F7E66CB723}" srcOrd="1" destOrd="0" presId="urn:microsoft.com/office/officeart/2005/8/layout/orgChart1"/>
    <dgm:cxn modelId="{00EF89D5-2B49-4FDA-A0E7-B8E02220649E}" type="presParOf" srcId="{8E729F67-CE9E-4475-9734-32F7E66CB723}" destId="{7E76AB91-8916-413D-ADF2-EC725141C1F4}" srcOrd="0" destOrd="0" presId="urn:microsoft.com/office/officeart/2005/8/layout/orgChart1"/>
    <dgm:cxn modelId="{AF84EEA7-A00F-47A8-8651-51DCE2FDFE07}" type="presParOf" srcId="{7E76AB91-8916-413D-ADF2-EC725141C1F4}" destId="{D806134B-4FE5-48A4-A7B2-E707F4E2DE15}" srcOrd="0" destOrd="0" presId="urn:microsoft.com/office/officeart/2005/8/layout/orgChart1"/>
    <dgm:cxn modelId="{113EE4C4-37ED-42CC-9165-35EDF88A088F}" type="presParOf" srcId="{7E76AB91-8916-413D-ADF2-EC725141C1F4}" destId="{88643D99-9CC7-49EB-8BCE-EC35E65EDE03}" srcOrd="1" destOrd="0" presId="urn:microsoft.com/office/officeart/2005/8/layout/orgChart1"/>
    <dgm:cxn modelId="{CED7688E-BCCB-4703-88F0-EFA8662879C1}" type="presParOf" srcId="{8E729F67-CE9E-4475-9734-32F7E66CB723}" destId="{A98E3D5B-1384-412E-9A92-6B246CE94667}" srcOrd="1" destOrd="0" presId="urn:microsoft.com/office/officeart/2005/8/layout/orgChart1"/>
    <dgm:cxn modelId="{966C42BE-D2E1-44F3-802D-9FF75667FCBC}" type="presParOf" srcId="{8E729F67-CE9E-4475-9734-32F7E66CB723}" destId="{D6D61300-08E9-4449-AD20-E439771BE907}" srcOrd="2" destOrd="0" presId="urn:microsoft.com/office/officeart/2005/8/layout/orgChart1"/>
    <dgm:cxn modelId="{1097AA3B-2397-4D02-9852-7DC8647902D5}" type="presParOf" srcId="{C541D5BA-89D2-4757-9526-95B8A1098728}" destId="{AB20A7E6-1028-4CFB-BACF-1EC7B59C1EF8}" srcOrd="2" destOrd="0" presId="urn:microsoft.com/office/officeart/2005/8/layout/orgChart1"/>
    <dgm:cxn modelId="{8B8B54A2-84A1-48A3-859D-258394B8FBBA}" type="presParOf" srcId="{C541D5BA-89D2-4757-9526-95B8A1098728}" destId="{657F9A4E-277E-4A9C-A398-3A1546B2A631}" srcOrd="3" destOrd="0" presId="urn:microsoft.com/office/officeart/2005/8/layout/orgChart1"/>
    <dgm:cxn modelId="{134982B1-B48F-4C2B-B76A-4991E6E8BCFA}" type="presParOf" srcId="{657F9A4E-277E-4A9C-A398-3A1546B2A631}" destId="{4DDE5F0F-2FA0-45CD-AE1C-B8B605FC944E}" srcOrd="0" destOrd="0" presId="urn:microsoft.com/office/officeart/2005/8/layout/orgChart1"/>
    <dgm:cxn modelId="{68B86355-958B-4462-9E7E-15D70D0F6B0D}" type="presParOf" srcId="{4DDE5F0F-2FA0-45CD-AE1C-B8B605FC944E}" destId="{B0EFC85C-95EC-470E-9785-3EA9CB1E1851}" srcOrd="0" destOrd="0" presId="urn:microsoft.com/office/officeart/2005/8/layout/orgChart1"/>
    <dgm:cxn modelId="{DA14192C-CC71-47EE-AEBE-F126BE8D6BED}" type="presParOf" srcId="{4DDE5F0F-2FA0-45CD-AE1C-B8B605FC944E}" destId="{A20C8BED-5787-49A8-AD85-2F8C52A79371}" srcOrd="1" destOrd="0" presId="urn:microsoft.com/office/officeart/2005/8/layout/orgChart1"/>
    <dgm:cxn modelId="{00BCAA13-FAA5-4FA0-B3F7-E2D0C08200F5}" type="presParOf" srcId="{657F9A4E-277E-4A9C-A398-3A1546B2A631}" destId="{302DE622-DF07-4DA1-99FF-CC6F6FBE97E3}" srcOrd="1" destOrd="0" presId="urn:microsoft.com/office/officeart/2005/8/layout/orgChart1"/>
    <dgm:cxn modelId="{6F69C50D-DD23-4191-83EE-D11D4D636565}" type="presParOf" srcId="{657F9A4E-277E-4A9C-A398-3A1546B2A631}" destId="{10D31C62-A841-4DEE-B062-2C502A7F11DA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20A7E6-1028-4CFB-BACF-1EC7B59C1EF8}">
      <dsp:nvSpPr>
        <dsp:cNvPr id="0" name=""/>
        <dsp:cNvSpPr/>
      </dsp:nvSpPr>
      <dsp:spPr>
        <a:xfrm>
          <a:off x="4358690" y="1257265"/>
          <a:ext cx="263641" cy="115500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55002"/>
              </a:lnTo>
              <a:lnTo>
                <a:pt x="263641" y="1155002"/>
              </a:lnTo>
            </a:path>
          </a:pathLst>
        </a:custGeom>
        <a:noFill/>
        <a:ln w="26425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FAF47DF-99CA-4976-8614-EEAE24C5A637}">
      <dsp:nvSpPr>
        <dsp:cNvPr id="0" name=""/>
        <dsp:cNvSpPr/>
      </dsp:nvSpPr>
      <dsp:spPr>
        <a:xfrm>
          <a:off x="4095048" y="1257265"/>
          <a:ext cx="263641" cy="1155002"/>
        </a:xfrm>
        <a:custGeom>
          <a:avLst/>
          <a:gdLst/>
          <a:ahLst/>
          <a:cxnLst/>
          <a:rect l="0" t="0" r="0" b="0"/>
          <a:pathLst>
            <a:path>
              <a:moveTo>
                <a:pt x="263641" y="0"/>
              </a:moveTo>
              <a:lnTo>
                <a:pt x="263641" y="1155002"/>
              </a:lnTo>
              <a:lnTo>
                <a:pt x="0" y="1155002"/>
              </a:lnTo>
            </a:path>
          </a:pathLst>
        </a:custGeom>
        <a:noFill/>
        <a:ln w="26425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A1DD85A-B5ED-4B78-8815-F630B625806D}">
      <dsp:nvSpPr>
        <dsp:cNvPr id="0" name=""/>
        <dsp:cNvSpPr/>
      </dsp:nvSpPr>
      <dsp:spPr>
        <a:xfrm>
          <a:off x="4312970" y="1257265"/>
          <a:ext cx="91440" cy="231000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10004"/>
              </a:lnTo>
            </a:path>
          </a:pathLst>
        </a:custGeom>
        <a:noFill/>
        <a:ln w="26425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4A8905-ACE0-4681-8443-6ACA7039488B}">
      <dsp:nvSpPr>
        <dsp:cNvPr id="0" name=""/>
        <dsp:cNvSpPr/>
      </dsp:nvSpPr>
      <dsp:spPr>
        <a:xfrm>
          <a:off x="2362871" y="1828"/>
          <a:ext cx="3991637" cy="125543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642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/>
            <a:t>Вычислительные машины</a:t>
          </a:r>
        </a:p>
      </dsp:txBody>
      <dsp:txXfrm>
        <a:off x="2362871" y="1828"/>
        <a:ext cx="3991637" cy="1255437"/>
      </dsp:txXfrm>
    </dsp:sp>
    <dsp:sp modelId="{A147AA0E-A43C-4EE6-84AF-A6698905A5A7}">
      <dsp:nvSpPr>
        <dsp:cNvPr id="0" name=""/>
        <dsp:cNvSpPr/>
      </dsp:nvSpPr>
      <dsp:spPr>
        <a:xfrm>
          <a:off x="2380673" y="3567270"/>
          <a:ext cx="3956033" cy="125543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642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/>
            <a:t>3. Специализированные</a:t>
          </a:r>
        </a:p>
      </dsp:txBody>
      <dsp:txXfrm>
        <a:off x="2380673" y="3567270"/>
        <a:ext cx="3956033" cy="1255437"/>
      </dsp:txXfrm>
    </dsp:sp>
    <dsp:sp modelId="{D806134B-4FE5-48A4-A7B2-E707F4E2DE15}">
      <dsp:nvSpPr>
        <dsp:cNvPr id="0" name=""/>
        <dsp:cNvSpPr/>
      </dsp:nvSpPr>
      <dsp:spPr>
        <a:xfrm>
          <a:off x="720081" y="1784549"/>
          <a:ext cx="3374967" cy="125543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642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/>
            <a:t>1. Универсальные </a:t>
          </a:r>
        </a:p>
      </dsp:txBody>
      <dsp:txXfrm>
        <a:off x="720081" y="1784549"/>
        <a:ext cx="3374967" cy="1255437"/>
      </dsp:txXfrm>
    </dsp:sp>
    <dsp:sp modelId="{B0EFC85C-95EC-470E-9785-3EA9CB1E1851}">
      <dsp:nvSpPr>
        <dsp:cNvPr id="0" name=""/>
        <dsp:cNvSpPr/>
      </dsp:nvSpPr>
      <dsp:spPr>
        <a:xfrm>
          <a:off x="4622332" y="1784549"/>
          <a:ext cx="3010513" cy="125543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642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/>
            <a:t>2. Проблемно-ориентированные</a:t>
          </a:r>
        </a:p>
      </dsp:txBody>
      <dsp:txXfrm>
        <a:off x="4622332" y="1784549"/>
        <a:ext cx="3010513" cy="12554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C86DC-69C8-4D58-9C59-7B9003208BE4}" type="datetimeFigureOut">
              <a:rPr lang="ru-RU" smtClean="0"/>
              <a:t>08.09.2025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2A8C9-DC37-4B07-9362-992F123A6DE9}" type="slidenum">
              <a:rPr lang="ru-RU" smtClean="0"/>
              <a:t>‹#›</a:t>
            </a:fld>
            <a:endParaRPr lang="ru-RU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C86DC-69C8-4D58-9C59-7B9003208BE4}" type="datetimeFigureOut">
              <a:rPr lang="ru-RU" smtClean="0"/>
              <a:t>08.09.2025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2A8C9-DC37-4B07-9362-992F123A6DE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C86DC-69C8-4D58-9C59-7B9003208BE4}" type="datetimeFigureOut">
              <a:rPr lang="ru-RU" smtClean="0"/>
              <a:t>08.09.2025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2A8C9-DC37-4B07-9362-992F123A6DE9}" type="slidenum">
              <a:rPr lang="ru-RU" smtClean="0"/>
              <a:t>‹#›</a:t>
            </a:fld>
            <a:endParaRPr lang="ru-RU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C86DC-69C8-4D58-9C59-7B9003208BE4}" type="datetimeFigureOut">
              <a:rPr lang="ru-RU" smtClean="0"/>
              <a:t>08.09.2025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2A8C9-DC37-4B07-9362-992F123A6DE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C86DC-69C8-4D58-9C59-7B9003208BE4}" type="datetimeFigureOut">
              <a:rPr lang="ru-RU" smtClean="0"/>
              <a:t>08.09.2025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2A8C9-DC37-4B07-9362-992F123A6DE9}" type="slidenum">
              <a:rPr lang="ru-RU" smtClean="0"/>
              <a:t>‹#›</a:t>
            </a:fld>
            <a:endParaRPr lang="ru-RU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C86DC-69C8-4D58-9C59-7B9003208BE4}" type="datetimeFigureOut">
              <a:rPr lang="ru-RU" smtClean="0"/>
              <a:t>08.09.2025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2A8C9-DC37-4B07-9362-992F123A6DE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C86DC-69C8-4D58-9C59-7B9003208BE4}" type="datetimeFigureOut">
              <a:rPr lang="ru-RU" smtClean="0"/>
              <a:t>08.09.2025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2A8C9-DC37-4B07-9362-992F123A6DE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C86DC-69C8-4D58-9C59-7B9003208BE4}" type="datetimeFigureOut">
              <a:rPr lang="ru-RU" smtClean="0"/>
              <a:t>08.09.2025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2A8C9-DC37-4B07-9362-992F123A6DE9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C86DC-69C8-4D58-9C59-7B9003208BE4}" type="datetimeFigureOut">
              <a:rPr lang="ru-RU" smtClean="0"/>
              <a:t>08.09.2025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2A8C9-DC37-4B07-9362-992F123A6DE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C86DC-69C8-4D58-9C59-7B9003208BE4}" type="datetimeFigureOut">
              <a:rPr lang="ru-RU" smtClean="0"/>
              <a:t>08.09.2025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2A8C9-DC37-4B07-9362-992F123A6DE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C86DC-69C8-4D58-9C59-7B9003208BE4}" type="datetimeFigureOut">
              <a:rPr lang="ru-RU" smtClean="0"/>
              <a:t>08.09.2025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2A8C9-DC37-4B07-9362-992F123A6DE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FCAC86DC-69C8-4D58-9C59-7B9003208BE4}" type="datetimeFigureOut">
              <a:rPr lang="ru-RU" smtClean="0"/>
              <a:t>08.09.2025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B5C2A8C9-DC37-4B07-9362-992F123A6DE9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m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tmp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wiki-org.ru/wiki/%D0%9F%D0%B5%D1%80%D1%84%D0%BE%D0%BA%D0%B0%D1%80%D1%82%D0%B0" TargetMode="External"/><Relationship Id="rId2" Type="http://schemas.openxmlformats.org/officeDocument/2006/relationships/hyperlink" Target="http://wiki-org.ru/wiki/%D0%96%D0%B0%D0%BA%D0%BA%D0%B0%D1%80,_%D0%96%D0%BE%D0%B7%D0%B5%D1%84_%D0%9C%D0%B0%D1%80%D0%B8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iki-org.ru/wiki/%D0%98%D1%81%D1%82%D0%BE%D1%80%D0%B8%D1%8F_%D0%B2%D1%8B%D1%87%D0%B8%D1%81%D0%BB%D0%B8%D1%82%D0%B5%D0%BB%D1%8C%D0%BD%D0%BE%D0%B9_%D1%82%D0%B5%D1%85%D0%BD%D0%B8%D0%BA%D0%B8" TargetMode="External"/><Relationship Id="rId5" Type="http://schemas.openxmlformats.org/officeDocument/2006/relationships/image" Target="../media/image11.png"/><Relationship Id="rId4" Type="http://schemas.openxmlformats.org/officeDocument/2006/relationships/hyperlink" Target="http://wiki-org.ru/wiki/%D0%9A%D0%BE%D1%80%D1%81%D0%B0%D0%BA%D0%BE%D0%B2,_%D0%A1%D0%B5%D0%BC%D1%91%D0%BD_%D0%9D%D0%B8%D0%BA%D0%BE%D0%BB%D0%B0%D0%B5%D0%B2%D0%B8%D1%87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%D0%AD%D0%9D%D0%98%D0%90%D0%9A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%D0%A2%D0%B5%D0%BE%D1%80%D0%B8%D1%8F_%D0%B8%D0%B3%D1%80" TargetMode="External"/><Relationship Id="rId2" Type="http://schemas.openxmlformats.org/officeDocument/2006/relationships/hyperlink" Target="https://ru.wikipedia.org/wiki/%D0%90%D1%80%D1%85%D0%B8%D1%82%D0%B5%D0%BA%D1%82%D1%83%D1%80%D0%B0_%D1%84%D0%BE%D0%BD_%D0%9D%D0%B5%D0%B9%D0%BC%D0%B0%D0%BD%D0%B0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hyperlink" Target="https://ru.wikipedia.org/wiki/%D0%9D%D0%B5%D0%B9%D0%BC%D0%B0%D0%BD,_%D0%94%D0%B6%D0%BE%D0%BD_%D1%84%D0%BE%D0%BD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mp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://besm-6.ru/besm-series.html" TargetMode="Externa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tmp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://besm-6.ru/besm-series.htm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tmp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tmp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tmp"/><Relationship Id="rId2" Type="http://schemas.openxmlformats.org/officeDocument/2006/relationships/image" Target="../media/image23.tmp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tmp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tmp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hyperlink" Target="https://yandex.ru/images/search?text=%D0%B0%D0%B1%D0%B0%D0%BA&amp;from=tabbar&amp;pos=15&amp;img_url=https://thumbnailer.mixcloud.com/unsafe/900x900/extaudio/e/4/b/2/13cd-d65c-4e8f-98da-71478794a898&amp;rpt=simage" TargetMode="External"/><Relationship Id="rId3" Type="http://schemas.openxmlformats.org/officeDocument/2006/relationships/hyperlink" Target="http://besm-6.ru/besm-series.html" TargetMode="External"/><Relationship Id="rId7" Type="http://schemas.openxmlformats.org/officeDocument/2006/relationships/hyperlink" Target="https://yandex.ru/images/search?from=tabbar&amp;text=%D0%B3%D0%BB%D0%BE%D0%B1%D1%83%D1%81%20%D0%BC%D0%BE%D0%B4%D0%B5%D0%BB%D1%8C%20%D0%B7%D0%B5%D0%BC%D0%BB%D0%B8&amp;pos=0&amp;img_url=https://cf.ppt-online.org/files2/slide/o/oUGmWC6ipJwDFqQArXcedRnzEI2PMyVk4l17KB5hS/slide-3.jpg&amp;rpt=simage" TargetMode="External"/><Relationship Id="rId2" Type="http://schemas.openxmlformats.org/officeDocument/2006/relationships/hyperlink" Target="https://znanio.ru/media/lektsionnyj_material_po_distsipline_arhitektura_apparatnyh_sredstv-320796/356118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yandex.ru/images/search?text=%D0%BC%D0%BE%D0%B4%D0%B5%D0%BB%D1%8C%20%D0%B2%20%D0%BF%D1%80%D0%BE%D0%B3%D1%80%D0%B0%D0%BC%D0%BC%D0%B8%D1%80%D0%BE%D0%B2%D0%B0%D0%BD%D0%B8%D0%B8&amp;from=tabbar&amp;pos=0&amp;img_url=https://cf.ppt-online.org/files/slide/a/aj6FDbpz3GloiNd0Xmn92SqBYCLgxhkTAKeZOV/slide-4.jpg&amp;rpt=simage" TargetMode="External"/><Relationship Id="rId5" Type="http://schemas.openxmlformats.org/officeDocument/2006/relationships/hyperlink" Target="https://yandex.ru/images/search?text=%D0%BC%D0%BE%D0%B4%D0%B5%D0%BB%D1%8C%20%D0%B2%20%D1%85%D0%B8%D0%BC%D0%B8%D0%B8&amp;from=tabbar&amp;pos=5&amp;img_url=https://static.turbosquid.com/Preview/001287/153/H0/_D.jpg&amp;rpt=simage" TargetMode="External"/><Relationship Id="rId10" Type="http://schemas.openxmlformats.org/officeDocument/2006/relationships/hyperlink" Target="https://yandex.ru/search/?lr=213&amp;text=%D0%BF%D0%B5%D1%80%D1%81%D0%BE%D0%BD%D0%B0%D0%BB%D1%8C%D0%BD%D1%8B%D0%B9%20%D0%BA%D0%BE%D0%BC%D0%BF%D1%8C%D1%8E%D1%82%D0%B5%D1%80%2080-%D1%85%20%D0%B3%D0%BE%D0%B4%D0%BE%D0%B2" TargetMode="External"/><Relationship Id="rId4" Type="http://schemas.openxmlformats.org/officeDocument/2006/relationships/hyperlink" Target="https://yandex.ru/images/search?from=tabbar&amp;source-serpid=IuVovURkuaG8bN7cTfkxgw&amp;nomisspell=1&amp;text=%D1%81%D0%BC%D0%BE%D1%82%D1%80%D0%B5%D1%82%D1%8C%20%D1%82%D0%B5%D0%BB%D0%B5%D0%B2%D0%B8%D0%B7%D0%BE%D1%80%20%D1%80%D0%B8%D1%81%D1%83%D0%BD%D0%BE%D0%BA&amp;source=related-0&amp;pos=2&amp;rpt=simage&amp;img_url=https://cdn.coloringtop.com/sites/default/files/raskraska-televizor23.jpg" TargetMode="External"/><Relationship Id="rId9" Type="http://schemas.openxmlformats.org/officeDocument/2006/relationships/hyperlink" Target="https://ru.wikipedia.org/wiki/%D0%9D%D0%B5%D0%B9%D0%BC%D0%B0%D0%BD,_%D0%94%D0%B6%D0%BE%D0%BD_%D1%84%D0%BE%D0%BD" TargetMode="Externa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55749" y="2348880"/>
            <a:ext cx="7848600" cy="1927225"/>
          </a:xfrm>
        </p:spPr>
        <p:txBody>
          <a:bodyPr>
            <a:normAutofit fontScale="90000"/>
          </a:bodyPr>
          <a:lstStyle/>
          <a:p>
            <a:br>
              <a:rPr lang="ru-RU" dirty="0"/>
            </a:br>
            <a:br>
              <a:rPr lang="ru-RU" dirty="0"/>
            </a:br>
            <a:br>
              <a:rPr lang="ru-RU" dirty="0"/>
            </a:br>
            <a:r>
              <a:rPr lang="ru-RU" dirty="0">
                <a:solidFill>
                  <a:srgbClr val="00B050"/>
                </a:solidFill>
              </a:rPr>
              <a:t>Лекция № 1 </a:t>
            </a:r>
            <a:br>
              <a:rPr lang="ru-RU" dirty="0">
                <a:solidFill>
                  <a:srgbClr val="00B050"/>
                </a:solidFill>
              </a:rPr>
            </a:br>
            <a:r>
              <a:rPr lang="ru-RU" sz="3600" dirty="0"/>
              <a:t>Понятия аппаратных средств ЭВМ, архитектуры аппаратных средств. История развития вычислительных устройств и приборов. Классификация ЭВМ</a:t>
            </a:r>
            <a:br>
              <a:rPr lang="ru-RU" sz="3600" dirty="0"/>
            </a:br>
            <a:br>
              <a:rPr lang="ru-RU" sz="3600" dirty="0"/>
            </a:br>
            <a:r>
              <a:rPr lang="ru-RU" sz="2200" dirty="0"/>
              <a:t>Дисциплина: Архитектура аппаратных средств</a:t>
            </a:r>
          </a:p>
        </p:txBody>
      </p:sp>
    </p:spTree>
    <p:extLst>
      <p:ext uri="{BB962C8B-B14F-4D97-AF65-F5344CB8AC3E}">
        <p14:creationId xmlns:p14="http://schemas.microsoft.com/office/powerpoint/2010/main" val="433317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Терминология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Вычислительная система</a:t>
            </a:r>
            <a:r>
              <a:rPr lang="ru-RU" dirty="0"/>
              <a:t> – совокупность одного и более компьютеров или процессоров, программного обеспечения и периферийного оборудования, организованная для совместного выполнения информационно-вычислительных процессов.</a:t>
            </a:r>
          </a:p>
          <a:p>
            <a:r>
              <a:rPr lang="ru-RU" b="1" dirty="0"/>
              <a:t>«Вычислительная сеть» </a:t>
            </a:r>
            <a:r>
              <a:rPr lang="ru-RU" dirty="0"/>
              <a:t>– более правильным термином является </a:t>
            </a:r>
            <a:r>
              <a:rPr lang="ru-RU" b="1" dirty="0"/>
              <a:t>«информационно-вычислительная сеть»</a:t>
            </a:r>
            <a:r>
              <a:rPr lang="ru-RU" dirty="0"/>
              <a:t>, а в ряде случаев и </a:t>
            </a:r>
            <a:r>
              <a:rPr lang="ru-RU" b="1" dirty="0"/>
              <a:t>«информационная сеть»</a:t>
            </a:r>
            <a:r>
              <a:rPr lang="ru-RU" dirty="0"/>
              <a:t>, ибо вычислительные процессы превалируют над информационными лишь в </a:t>
            </a:r>
            <a:r>
              <a:rPr lang="ru-RU" b="1" dirty="0"/>
              <a:t>локальных вычислительных сетях</a:t>
            </a:r>
            <a:r>
              <a:rPr lang="ru-RU" dirty="0"/>
              <a:t>, да и то довольно редко.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25584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Терминология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b="1" dirty="0"/>
              <a:t>Система </a:t>
            </a:r>
            <a:r>
              <a:rPr lang="ru-RU" dirty="0"/>
              <a:t>(от греческого </a:t>
            </a:r>
            <a:r>
              <a:rPr lang="en-US" dirty="0" err="1"/>
              <a:t>systema</a:t>
            </a:r>
            <a:r>
              <a:rPr lang="en-US" dirty="0"/>
              <a:t> </a:t>
            </a:r>
            <a:r>
              <a:rPr lang="ru-RU" dirty="0"/>
              <a:t>– целое, составленное из частей соединение) – это </a:t>
            </a:r>
            <a:r>
              <a:rPr lang="ru-RU" b="1" dirty="0"/>
              <a:t>совокупность элементов</a:t>
            </a:r>
            <a:r>
              <a:rPr lang="ru-RU" dirty="0"/>
              <a:t>, взаимодействующих друг с другом, образующих определенную целостность, единство, обеспечивающие целенаправленное поведение.</a:t>
            </a:r>
          </a:p>
          <a:p>
            <a:pPr marL="0" indent="0">
              <a:buNone/>
            </a:pPr>
            <a:r>
              <a:rPr lang="ru-RU" dirty="0"/>
              <a:t>Системы можно разделить:</a:t>
            </a:r>
          </a:p>
          <a:p>
            <a:pPr lvl="0"/>
            <a:r>
              <a:rPr lang="ru-RU" dirty="0"/>
              <a:t>на материальные системы;</a:t>
            </a:r>
          </a:p>
          <a:p>
            <a:pPr lvl="0"/>
            <a:r>
              <a:rPr lang="ru-RU" dirty="0"/>
              <a:t>абстрактные системы.</a:t>
            </a:r>
          </a:p>
          <a:p>
            <a:r>
              <a:rPr lang="ru-RU" b="1" dirty="0"/>
              <a:t>Материальные системы</a:t>
            </a:r>
            <a:r>
              <a:rPr lang="ru-RU" dirty="0"/>
              <a:t> представляют собой совокупность материальных объектов.</a:t>
            </a:r>
          </a:p>
          <a:p>
            <a:r>
              <a:rPr lang="ru-RU" b="1" dirty="0"/>
              <a:t>Абстрактные системы</a:t>
            </a:r>
            <a:r>
              <a:rPr lang="ru-RU" dirty="0"/>
              <a:t> являются продуктом человеческого мышления – знания, теории, гипотезы.</a:t>
            </a:r>
          </a:p>
          <a:p>
            <a:r>
              <a:rPr lang="ru-RU" b="1" dirty="0"/>
              <a:t>Элемент</a:t>
            </a:r>
            <a:r>
              <a:rPr lang="ru-RU" dirty="0"/>
              <a:t> </a:t>
            </a:r>
            <a:r>
              <a:rPr lang="ru-RU" b="1" dirty="0"/>
              <a:t>(компонент) системы</a:t>
            </a:r>
            <a:r>
              <a:rPr lang="ru-RU" dirty="0"/>
              <a:t> – часть системы, имеющая определенное функциональное назначение.</a:t>
            </a:r>
          </a:p>
        </p:txBody>
      </p:sp>
    </p:spTree>
    <p:extLst>
      <p:ext uri="{BB962C8B-B14F-4D97-AF65-F5344CB8AC3E}">
        <p14:creationId xmlns:p14="http://schemas.microsoft.com/office/powerpoint/2010/main" val="3711589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Терминология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Архитектура ЭВМ (системы) </a:t>
            </a:r>
            <a:r>
              <a:rPr lang="ru-RU" dirty="0"/>
              <a:t>– это </a:t>
            </a:r>
            <a:r>
              <a:rPr lang="ru-RU" b="1" dirty="0"/>
              <a:t>совокупность свойств </a:t>
            </a:r>
            <a:r>
              <a:rPr lang="ru-RU" dirty="0"/>
              <a:t>компьютера (системы), существенных для программиста и пользователя.</a:t>
            </a:r>
          </a:p>
          <a:p>
            <a:r>
              <a:rPr lang="ru-RU" b="1" dirty="0"/>
              <a:t>Организация системы</a:t>
            </a:r>
            <a:r>
              <a:rPr lang="ru-RU" dirty="0"/>
              <a:t> – внутренняя упорядоченность, согласованность взаимодействия элементов системы.</a:t>
            </a:r>
          </a:p>
          <a:p>
            <a:r>
              <a:rPr lang="ru-RU" b="1" dirty="0"/>
              <a:t>Структура системы</a:t>
            </a:r>
            <a:r>
              <a:rPr lang="ru-RU" dirty="0"/>
              <a:t> – состав, порядок и принципы взаимодействия элементов системы. </a:t>
            </a:r>
          </a:p>
          <a:p>
            <a:r>
              <a:rPr lang="ru-RU" dirty="0"/>
              <a:t>Если отдельные элементы системы </a:t>
            </a:r>
            <a:r>
              <a:rPr lang="ru-RU" b="1" dirty="0"/>
              <a:t>разнесены по разным уровням</a:t>
            </a:r>
            <a:r>
              <a:rPr lang="ru-RU" dirty="0"/>
              <a:t>, то говорят об </a:t>
            </a:r>
            <a:r>
              <a:rPr lang="ru-RU" b="1" dirty="0"/>
              <a:t>иерархической структуре </a:t>
            </a:r>
            <a:r>
              <a:rPr lang="ru-RU" dirty="0"/>
              <a:t>системы. </a:t>
            </a:r>
          </a:p>
          <a:p>
            <a:pPr marL="0" indent="0">
              <a:buNone/>
            </a:pP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82583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Научные предпосылки создания ЭВМ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772816"/>
            <a:ext cx="8229600" cy="4704184"/>
          </a:xfrm>
        </p:spPr>
        <p:txBody>
          <a:bodyPr/>
          <a:lstStyle/>
          <a:p>
            <a:r>
              <a:rPr lang="ru-RU" dirty="0"/>
              <a:t>Важнейшую и решающую роль в создании и эволюции ЭВМ сыграла наука «Кибернетика». </a:t>
            </a:r>
          </a:p>
          <a:p>
            <a:r>
              <a:rPr lang="ru-RU" b="1" dirty="0"/>
              <a:t>Кибернетика</a:t>
            </a:r>
            <a:r>
              <a:rPr lang="ru-RU" dirty="0"/>
              <a:t> – наука об общих </a:t>
            </a:r>
            <a:r>
              <a:rPr lang="ru-RU" b="1" dirty="0"/>
              <a:t>закономерностях процессов управления </a:t>
            </a:r>
            <a:r>
              <a:rPr lang="ru-RU" dirty="0"/>
              <a:t>в системах любой природы. Предметом изучения кибернетики являются </a:t>
            </a:r>
            <a:r>
              <a:rPr lang="ru-RU" b="1" dirty="0"/>
              <a:t>информационные процессы</a:t>
            </a:r>
            <a:r>
              <a:rPr lang="ru-RU" dirty="0"/>
              <a:t>, описывающие поведение этих </a:t>
            </a:r>
            <a:r>
              <a:rPr lang="ru-RU" b="1" dirty="0"/>
              <a:t>систем</a:t>
            </a:r>
            <a:r>
              <a:rPr lang="ru-RU" dirty="0"/>
              <a:t>.</a:t>
            </a:r>
          </a:p>
          <a:p>
            <a:r>
              <a:rPr lang="ru-RU" dirty="0"/>
              <a:t>Цель изучения – создание </a:t>
            </a:r>
            <a:r>
              <a:rPr lang="ru-RU" b="1" dirty="0"/>
              <a:t>методов и технических средств</a:t>
            </a:r>
            <a:r>
              <a:rPr lang="ru-RU" dirty="0"/>
              <a:t> для наиболее эффективных результатов управления в таких системах.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92146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5536" y="1916832"/>
            <a:ext cx="8229600" cy="4732784"/>
          </a:xfrm>
        </p:spPr>
        <p:txBody>
          <a:bodyPr>
            <a:norm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ru-RU" dirty="0"/>
              <a:t>Кибернетика способствовала тому, что классическое представление о мире, состоящем из </a:t>
            </a:r>
            <a:r>
              <a:rPr lang="ru-RU" b="1" dirty="0"/>
              <a:t>материи и энергии</a:t>
            </a:r>
            <a:r>
              <a:rPr lang="ru-RU" dirty="0"/>
              <a:t>, уступило место представлению о мире, состоящем из трех составляющих: </a:t>
            </a:r>
            <a:r>
              <a:rPr lang="ru-RU" b="1" dirty="0"/>
              <a:t>материи, энергии и информации</a:t>
            </a:r>
            <a:r>
              <a:rPr lang="ru-RU" dirty="0"/>
              <a:t>, ибо без информации немыслимы организованные </a:t>
            </a:r>
            <a:r>
              <a:rPr lang="ru-RU" b="1" dirty="0"/>
              <a:t>системы</a:t>
            </a:r>
            <a:r>
              <a:rPr lang="ru-RU" dirty="0"/>
              <a:t>.</a:t>
            </a:r>
          </a:p>
          <a:p>
            <a:pPr marL="457200" lvl="0" indent="-457200">
              <a:buFont typeface="+mj-lt"/>
              <a:buAutoNum type="arabicPeriod"/>
            </a:pPr>
            <a:r>
              <a:rPr lang="ru-RU" dirty="0"/>
              <a:t>Кибернетика рассматривает управляемые системы </a:t>
            </a:r>
            <a:r>
              <a:rPr lang="ru-RU" b="1" dirty="0"/>
              <a:t>не в статике, а в динамике</a:t>
            </a:r>
            <a:r>
              <a:rPr lang="ru-RU" dirty="0"/>
              <a:t>, то есть в их движении, развитии, при этом в тесной связи с другими (внешними) системами. </a:t>
            </a:r>
          </a:p>
          <a:p>
            <a:pPr marL="0" lvl="0" indent="0">
              <a:buNone/>
            </a:pPr>
            <a:endParaRPr lang="ru-RU" dirty="0"/>
          </a:p>
          <a:p>
            <a:endParaRPr lang="ru-RU" dirty="0"/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467544" y="836712"/>
            <a:ext cx="8229600" cy="990600"/>
          </a:xfrm>
        </p:spPr>
        <p:txBody>
          <a:bodyPr>
            <a:noAutofit/>
          </a:bodyPr>
          <a:lstStyle/>
          <a:p>
            <a:r>
              <a:rPr lang="ru-RU" sz="3200" dirty="0"/>
              <a:t>Основные особенности кибернетики:</a:t>
            </a:r>
            <a:br>
              <a:rPr lang="ru-RU" sz="3200" dirty="0"/>
            </a:b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661418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11560" y="2132856"/>
            <a:ext cx="8229600" cy="4536504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ru-RU" dirty="0"/>
              <a:t>3. Никогда нельзя учесть полное множество всех факторов, прямо или косвенно влияющих на ее поведение. </a:t>
            </a:r>
          </a:p>
          <a:p>
            <a:pPr marL="0" lvl="0" indent="0">
              <a:buNone/>
            </a:pPr>
            <a:r>
              <a:rPr lang="ru-RU" dirty="0"/>
              <a:t>Поэтому всегда следует </a:t>
            </a:r>
            <a:r>
              <a:rPr lang="ru-RU" b="1" dirty="0"/>
              <a:t>вводит</a:t>
            </a:r>
            <a:r>
              <a:rPr lang="ru-RU" dirty="0"/>
              <a:t>ь различные </a:t>
            </a:r>
            <a:r>
              <a:rPr lang="ru-RU" b="1" dirty="0"/>
              <a:t>ограничения</a:t>
            </a:r>
            <a:r>
              <a:rPr lang="ru-RU" dirty="0"/>
              <a:t>, считаться с неизбежностью наличия некоторых случайных факторов, являющихся результатом действия этих неучтенных процессов, явлений и связей.</a:t>
            </a:r>
          </a:p>
          <a:p>
            <a:pPr marL="0" indent="0">
              <a:buNone/>
            </a:pPr>
            <a:r>
              <a:rPr lang="ru-RU" dirty="0"/>
              <a:t>4. В кибернетике часто применяется метод исследования систем с использованием </a:t>
            </a:r>
            <a:r>
              <a:rPr lang="ru-RU" dirty="0">
                <a:solidFill>
                  <a:srgbClr val="C00000"/>
                </a:solidFill>
              </a:rPr>
              <a:t>«черного ящика».</a:t>
            </a:r>
          </a:p>
          <a:p>
            <a:endParaRPr lang="ru-RU" dirty="0"/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467544" y="908720"/>
            <a:ext cx="8229600" cy="990600"/>
          </a:xfrm>
        </p:spPr>
        <p:txBody>
          <a:bodyPr>
            <a:noAutofit/>
          </a:bodyPr>
          <a:lstStyle/>
          <a:p>
            <a:r>
              <a:rPr lang="ru-RU" sz="3200" dirty="0"/>
              <a:t>Основные особенности кибернетики:</a:t>
            </a:r>
          </a:p>
        </p:txBody>
      </p:sp>
    </p:spTree>
    <p:extLst>
      <p:ext uri="{BB962C8B-B14F-4D97-AF65-F5344CB8AC3E}">
        <p14:creationId xmlns:p14="http://schemas.microsoft.com/office/powerpoint/2010/main" val="39918210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Под «черным ящиком» понимается система…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772816"/>
            <a:ext cx="8229600" cy="47041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dirty="0"/>
              <a:t>….в которой исследователю доступна лишь </a:t>
            </a:r>
            <a:r>
              <a:rPr lang="ru-RU" sz="1800" dirty="0">
                <a:solidFill>
                  <a:srgbClr val="C00000"/>
                </a:solidFill>
              </a:rPr>
              <a:t>входная и выходная</a:t>
            </a:r>
            <a:r>
              <a:rPr lang="ru-RU" sz="1800" dirty="0"/>
              <a:t> информация этой системы, а </a:t>
            </a:r>
            <a:r>
              <a:rPr lang="ru-RU" sz="1800" dirty="0">
                <a:solidFill>
                  <a:srgbClr val="C00000"/>
                </a:solidFill>
              </a:rPr>
              <a:t>внутреннее</a:t>
            </a:r>
            <a:r>
              <a:rPr lang="ru-RU" sz="1800" dirty="0"/>
              <a:t> устройство неизвестно. </a:t>
            </a:r>
          </a:p>
          <a:p>
            <a:pPr marL="0" indent="0">
              <a:buNone/>
            </a:pPr>
            <a:r>
              <a:rPr lang="ru-RU" sz="1800" dirty="0"/>
              <a:t>Оказывается, что ряд важных выводов о поведении системы можно делать, наблюдая лишь реакции выходной информации при изменении входной информации. </a:t>
            </a:r>
          </a:p>
          <a:p>
            <a:pPr marL="0" indent="0">
              <a:buNone/>
            </a:pPr>
            <a:r>
              <a:rPr lang="ru-RU" sz="1800" dirty="0"/>
              <a:t>Классический пример </a:t>
            </a:r>
            <a:r>
              <a:rPr lang="ru-RU" sz="1800" dirty="0">
                <a:solidFill>
                  <a:srgbClr val="C00000"/>
                </a:solidFill>
              </a:rPr>
              <a:t>«черного ящика» </a:t>
            </a:r>
            <a:r>
              <a:rPr lang="ru-RU" sz="1800" dirty="0"/>
              <a:t>– телевизор.</a:t>
            </a:r>
          </a:p>
          <a:p>
            <a:pPr marL="0" indent="0">
              <a:buNone/>
            </a:pPr>
            <a:r>
              <a:rPr lang="ru-RU" sz="1800" dirty="0"/>
              <a:t>Большинство людей, которые им пользуются, не имеют ни малейшего представления о том, как он устроен внутри. </a:t>
            </a:r>
          </a:p>
          <a:p>
            <a:pPr marL="0" indent="0">
              <a:buNone/>
            </a:pPr>
            <a:r>
              <a:rPr lang="ru-RU" sz="1800" dirty="0"/>
              <a:t>Но, нажимая кнопку включения телевизора, пульта </a:t>
            </a:r>
            <a:r>
              <a:rPr lang="ru-RU" sz="1800" dirty="0">
                <a:solidFill>
                  <a:srgbClr val="C00000"/>
                </a:solidFill>
              </a:rPr>
              <a:t>(входная информация), </a:t>
            </a:r>
            <a:r>
              <a:rPr lang="ru-RU" sz="1800" dirty="0"/>
              <a:t>они ожидают </a:t>
            </a:r>
            <a:r>
              <a:rPr lang="ru-RU" sz="1800" dirty="0">
                <a:solidFill>
                  <a:srgbClr val="C00000"/>
                </a:solidFill>
              </a:rPr>
              <a:t>выходной информации </a:t>
            </a:r>
            <a:r>
              <a:rPr lang="ru-RU" sz="1800" dirty="0"/>
              <a:t>– изображения и звука.</a:t>
            </a:r>
          </a:p>
          <a:p>
            <a:endParaRPr lang="ru-RU" sz="18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4913847"/>
            <a:ext cx="2304256" cy="1778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430618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Важным методом кибернетики является метод моделирования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1700808"/>
            <a:ext cx="8229600" cy="4876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dirty="0"/>
              <a:t>Модель – это </a:t>
            </a:r>
            <a:r>
              <a:rPr lang="ru-RU" sz="1800" dirty="0">
                <a:solidFill>
                  <a:srgbClr val="C00000"/>
                </a:solidFill>
              </a:rPr>
              <a:t>другой</a:t>
            </a:r>
            <a:r>
              <a:rPr lang="ru-RU" sz="1800" dirty="0"/>
              <a:t> объект, процесс или формализованное описание, более удобное для рассмотрения, исследования, управления, интересующие нас </a:t>
            </a:r>
            <a:r>
              <a:rPr lang="ru-RU" sz="1800" dirty="0">
                <a:solidFill>
                  <a:srgbClr val="C00000"/>
                </a:solidFill>
              </a:rPr>
              <a:t>характеристики</a:t>
            </a:r>
            <a:r>
              <a:rPr lang="ru-RU" sz="1800" dirty="0"/>
              <a:t> которого подобны характеристикам </a:t>
            </a:r>
            <a:r>
              <a:rPr lang="ru-RU" sz="1800" dirty="0">
                <a:solidFill>
                  <a:srgbClr val="C00000"/>
                </a:solidFill>
              </a:rPr>
              <a:t>реального объекта</a:t>
            </a:r>
            <a:r>
              <a:rPr lang="ru-RU" sz="1800" dirty="0"/>
              <a:t>. </a:t>
            </a:r>
          </a:p>
          <a:p>
            <a:pPr marL="0" indent="0">
              <a:buNone/>
            </a:pPr>
            <a:r>
              <a:rPr lang="ru-RU" sz="1800" dirty="0"/>
              <a:t>После такой замены исследуется не первичный объект, а его модель. </a:t>
            </a:r>
          </a:p>
          <a:p>
            <a:pPr marL="0" indent="0">
              <a:buNone/>
            </a:pPr>
            <a:r>
              <a:rPr lang="ru-RU" sz="1800" dirty="0"/>
              <a:t>Результаты этих исследований распространяются на первичный объект (конечно, с известными оговорками).</a:t>
            </a:r>
          </a:p>
          <a:p>
            <a:endParaRPr lang="ru-RU" sz="1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4293095"/>
            <a:ext cx="1997077" cy="19970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Рисунок 4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2192" y="4472273"/>
            <a:ext cx="3240360" cy="1639185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444208" y="4669093"/>
            <a:ext cx="2304256" cy="1245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344019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Информация и ее особенности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Информация</a:t>
            </a:r>
            <a:r>
              <a:rPr lang="ru-RU" dirty="0"/>
              <a:t> – важнейший ресурс управления. </a:t>
            </a:r>
          </a:p>
          <a:p>
            <a:r>
              <a:rPr lang="ru-RU" dirty="0"/>
              <a:t>С позиций кибернетики </a:t>
            </a:r>
            <a:r>
              <a:rPr lang="ru-RU" b="1" dirty="0"/>
              <a:t>управление</a:t>
            </a:r>
            <a:r>
              <a:rPr lang="ru-RU" dirty="0"/>
              <a:t> – </a:t>
            </a:r>
            <a:r>
              <a:rPr lang="ru-RU" b="1" dirty="0"/>
              <a:t>процесс целенаправленной переработки информации</a:t>
            </a:r>
            <a:r>
              <a:rPr lang="ru-RU" dirty="0"/>
              <a:t>. </a:t>
            </a:r>
          </a:p>
          <a:p>
            <a:r>
              <a:rPr lang="ru-RU" dirty="0"/>
              <a:t>Информация является как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предметом</a:t>
            </a:r>
            <a:r>
              <a:rPr lang="ru-RU" dirty="0"/>
              <a:t> труда, так и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продуктом </a:t>
            </a:r>
            <a:r>
              <a:rPr lang="ru-RU" dirty="0"/>
              <a:t>труда в управлении. Для правильного понимания архитектуры и эффективного использования ЭВМ необходимо познакомиться с основными свойствами информации.</a:t>
            </a:r>
          </a:p>
          <a:p>
            <a:r>
              <a:rPr lang="ru-RU" dirty="0"/>
              <a:t>Слово </a:t>
            </a:r>
            <a:r>
              <a:rPr lang="ru-RU" b="1" dirty="0"/>
              <a:t>«информация»</a:t>
            </a:r>
            <a:r>
              <a:rPr lang="ru-RU" dirty="0"/>
              <a:t> (латинское </a:t>
            </a:r>
            <a:r>
              <a:rPr lang="en-US" dirty="0" err="1"/>
              <a:t>informatio</a:t>
            </a:r>
            <a:r>
              <a:rPr lang="ru-RU" dirty="0"/>
              <a:t>) означает «разъяснение», «осведомление», «изложение». </a:t>
            </a:r>
          </a:p>
          <a:p>
            <a:r>
              <a:rPr lang="ru-RU" dirty="0"/>
              <a:t>Под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информацией</a:t>
            </a:r>
            <a:r>
              <a:rPr lang="ru-RU" dirty="0"/>
              <a:t> понимаются все те сведения, которые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уменьшают</a:t>
            </a:r>
            <a:r>
              <a:rPr lang="ru-RU" dirty="0"/>
              <a:t> степень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неопределенности</a:t>
            </a:r>
            <a:r>
              <a:rPr lang="ru-RU" dirty="0"/>
              <a:t> нашего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знания</a:t>
            </a:r>
            <a:r>
              <a:rPr lang="ru-RU" dirty="0"/>
              <a:t> о конкретном объекте.</a:t>
            </a:r>
          </a:p>
        </p:txBody>
      </p:sp>
    </p:spTree>
    <p:extLst>
      <p:ext uri="{BB962C8B-B14F-4D97-AF65-F5344CB8AC3E}">
        <p14:creationId xmlns:p14="http://schemas.microsoft.com/office/powerpoint/2010/main" val="17265855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3528" y="476672"/>
            <a:ext cx="8640960" cy="990600"/>
          </a:xfrm>
        </p:spPr>
        <p:txBody>
          <a:bodyPr>
            <a:normAutofit fontScale="90000"/>
          </a:bodyPr>
          <a:lstStyle/>
          <a:p>
            <a:r>
              <a:rPr lang="ru-RU" dirty="0"/>
              <a:t>Технические предпосылки и практические потребности создания ЭВМ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Основными техническими предпосылками создания ЭВМ являются развитие электроники и опыт, накопленный в процессе разработки счетных и счетно-аналитических машин на перфокартах.</a:t>
            </a:r>
          </a:p>
          <a:p>
            <a:endParaRPr lang="ru-RU" dirty="0"/>
          </a:p>
        </p:txBody>
      </p:sp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3573016"/>
            <a:ext cx="3372042" cy="2228880"/>
          </a:xfrm>
          <a:prstGeom prst="rect">
            <a:avLst/>
          </a:prstGeom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3565732"/>
            <a:ext cx="2855979" cy="2141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01941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Механические счетные машины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Первые попытки - «счет на пальцах», затем на палочках, косточках на нитке, проволоке (счеты), а позже более удобные для вычислений счетные механизмы, механические счетные машинки и т. д. </a:t>
            </a:r>
          </a:p>
          <a:p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Счет на пальцах </a:t>
            </a:r>
            <a:r>
              <a:rPr lang="ru-RU" dirty="0"/>
              <a:t>сыграл громадную роль не только для облегчения вычислений, но и в развитии математики. </a:t>
            </a:r>
          </a:p>
          <a:p>
            <a:r>
              <a:rPr lang="ru-RU" dirty="0"/>
              <a:t>Эта несколько видоизмененная система дошла до нас в виде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«римских» цифр</a:t>
            </a:r>
            <a:r>
              <a:rPr lang="ru-RU" dirty="0"/>
              <a:t>. На смену пальцам, и в первую очередь с целью обеспечения возможности запоминать числа, пришел счет на бирках, зарубках, палочках, узелках и др.</a:t>
            </a:r>
          </a:p>
        </p:txBody>
      </p:sp>
    </p:spTree>
    <p:extLst>
      <p:ext uri="{BB962C8B-B14F-4D97-AF65-F5344CB8AC3E}">
        <p14:creationId xmlns:p14="http://schemas.microsoft.com/office/powerpoint/2010/main" val="33106369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Механические счетные машины</a:t>
            </a:r>
          </a:p>
        </p:txBody>
      </p:sp>
      <p:sp>
        <p:nvSpPr>
          <p:cNvPr id="5" name="Заголовок 1"/>
          <p:cNvSpPr>
            <a:spLocks noGrp="1"/>
          </p:cNvSpPr>
          <p:nvPr>
            <p:ph idx="1"/>
          </p:nvPr>
        </p:nvSpPr>
        <p:spPr>
          <a:xfrm>
            <a:off x="400713" y="1412776"/>
            <a:ext cx="8229600" cy="4876800"/>
          </a:xfrm>
        </p:spPr>
        <p:txBody>
          <a:bodyPr>
            <a:normAutofit/>
          </a:bodyPr>
          <a:lstStyle/>
          <a:p>
            <a:r>
              <a:rPr lang="ru-RU" sz="2000" dirty="0"/>
              <a:t>Широкое распространение у древних народов получил </a:t>
            </a:r>
            <a:r>
              <a:rPr lang="ru-RU" sz="2000" dirty="0">
                <a:solidFill>
                  <a:schemeClr val="tx2">
                    <a:lumMod val="75000"/>
                  </a:schemeClr>
                </a:solidFill>
              </a:rPr>
              <a:t>абак – счетный прибор</a:t>
            </a:r>
            <a:r>
              <a:rPr lang="ru-RU" sz="2000" dirty="0"/>
              <a:t>, на котором отмечены места (колонки или строчки) для разных разрядов чисел.</a:t>
            </a:r>
          </a:p>
          <a:p>
            <a:r>
              <a:rPr lang="ru-RU" sz="2000" dirty="0"/>
              <a:t>Косточки, жетоны, камешки, размещенные на этих местах, имеют различное числовое значение, то есть в абаке используется позиционная система счисления.</a:t>
            </a:r>
          </a:p>
          <a:p>
            <a:r>
              <a:rPr lang="ru-RU" sz="2000" dirty="0"/>
              <a:t>Самым распространенным </a:t>
            </a:r>
            <a:r>
              <a:rPr lang="ru-RU" sz="2000" dirty="0">
                <a:solidFill>
                  <a:schemeClr val="tx2">
                    <a:lumMod val="75000"/>
                  </a:schemeClr>
                </a:solidFill>
              </a:rPr>
              <a:t>абаком</a:t>
            </a:r>
            <a:r>
              <a:rPr lang="ru-RU" sz="2000" dirty="0"/>
              <a:t>, широко используемым и в настоящее время, являются счеты.</a:t>
            </a:r>
          </a:p>
          <a:p>
            <a:endParaRPr lang="ru-RU" sz="2000" dirty="0"/>
          </a:p>
        </p:txBody>
      </p:sp>
      <p:pic>
        <p:nvPicPr>
          <p:cNvPr id="6" name="Рисунок 5" descr="Вырезка экрана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1378" y="4630541"/>
            <a:ext cx="2279443" cy="1683636"/>
          </a:xfrm>
          <a:prstGeom prst="rect">
            <a:avLst/>
          </a:prstGeom>
        </p:spPr>
      </p:pic>
      <p:pic>
        <p:nvPicPr>
          <p:cNvPr id="7" name="Рисунок 6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7864" y="4630541"/>
            <a:ext cx="2679687" cy="1701326"/>
          </a:xfrm>
          <a:prstGeom prst="rect">
            <a:avLst/>
          </a:prstGeom>
        </p:spPr>
      </p:pic>
      <p:pic>
        <p:nvPicPr>
          <p:cNvPr id="8" name="Рисунок 7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4597749"/>
            <a:ext cx="2600761" cy="1678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8810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Электромеханические счетные машины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В конце </a:t>
            </a:r>
            <a:r>
              <a:rPr lang="en-US" dirty="0"/>
              <a:t>XIX</a:t>
            </a:r>
            <a:r>
              <a:rPr lang="ru-RU" dirty="0"/>
              <a:t> века в связи с развитием науки и техники потребность в счетных машинах настолько возросла, что ее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перестали удовлетворять</a:t>
            </a:r>
            <a:r>
              <a:rPr lang="ru-RU" dirty="0"/>
              <a:t> и арифмометры и другие типы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механических</a:t>
            </a:r>
            <a:r>
              <a:rPr lang="ru-RU" dirty="0"/>
              <a:t> счетных машин. </a:t>
            </a:r>
          </a:p>
          <a:p>
            <a:r>
              <a:rPr lang="ru-RU" dirty="0"/>
              <a:t>Последним и решающим толчком к созданию более производительных машин послужили потребности по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обработке переписей населения</a:t>
            </a:r>
            <a:r>
              <a:rPr lang="ru-RU" dirty="0"/>
              <a:t>, которые стали проводиться регулярно во многих странах.</a:t>
            </a:r>
          </a:p>
          <a:p>
            <a:r>
              <a:rPr lang="ru-RU" dirty="0"/>
              <a:t>К этому времени достаточно хорошее развитие получила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теория электричества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530477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Направления развития электромеханических машин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lang="ru-RU" dirty="0"/>
              <a:t>1. Использование электричества как движущей силы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внутри счетных машин</a:t>
            </a:r>
            <a:r>
              <a:rPr lang="ru-RU" dirty="0"/>
              <a:t>. </a:t>
            </a:r>
          </a:p>
          <a:p>
            <a:pPr lvl="0"/>
            <a:r>
              <a:rPr lang="ru-RU" dirty="0"/>
              <a:t>Это направление привело к созданию класса электрических, а затем электронных клавишных машин, информация в которые вводилась вручную с помощью клавиатуры (повысилась скорость и точность вычислений, но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недостаточной</a:t>
            </a:r>
            <a:r>
              <a:rPr lang="ru-RU" dirty="0"/>
              <a:t> оставалась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степень автоматизации вычислений</a:t>
            </a:r>
            <a:r>
              <a:rPr lang="ru-RU" dirty="0"/>
              <a:t>).</a:t>
            </a:r>
          </a:p>
          <a:p>
            <a:pPr marL="0" lvl="0" indent="0">
              <a:buNone/>
            </a:pPr>
            <a:r>
              <a:rPr lang="ru-RU" dirty="0"/>
              <a:t>2. Использование электричества в устройствах ввода и вывода информации при использовании перфокарт (повысилась скорость ввода и вывода информации и автоматизация вычислений, поскольку на перфокарты наносилась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не только числовая</a:t>
            </a:r>
            <a:r>
              <a:rPr lang="ru-RU" dirty="0"/>
              <a:t>, но и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программная</a:t>
            </a:r>
            <a:r>
              <a:rPr lang="ru-RU" dirty="0"/>
              <a:t> информация).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888749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Развитие электромеханических машин с перфокартами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628800"/>
            <a:ext cx="4527747" cy="4876800"/>
          </a:xfrm>
        </p:spPr>
        <p:txBody>
          <a:bodyPr>
            <a:normAutofit/>
          </a:bodyPr>
          <a:lstStyle/>
          <a:p>
            <a:r>
              <a:rPr lang="ru-RU" sz="1800" dirty="0"/>
              <a:t>В 1804 году </a:t>
            </a:r>
            <a:r>
              <a:rPr lang="ru-RU" sz="1800" dirty="0">
                <a:hlinkClick r:id="rId2" tooltip="Жаккар, Жозеф Мари"/>
              </a:rPr>
              <a:t>Жозеф Мари </a:t>
            </a:r>
            <a:r>
              <a:rPr lang="ru-RU" sz="1800" dirty="0" err="1">
                <a:hlinkClick r:id="rId2" tooltip="Жаккар, Жозеф Мари"/>
              </a:rPr>
              <a:t>Жаккар</a:t>
            </a:r>
            <a:r>
              <a:rPr lang="ru-RU" sz="1800" dirty="0"/>
              <a:t> разработал ткацкий станок, в котором вышиваемый узор определялся </a:t>
            </a:r>
            <a:r>
              <a:rPr lang="ru-RU" sz="1800" dirty="0">
                <a:hlinkClick r:id="rId3" tooltip="Перфокарта"/>
              </a:rPr>
              <a:t>перфокартами</a:t>
            </a:r>
            <a:r>
              <a:rPr lang="ru-RU" sz="1800" dirty="0"/>
              <a:t>. Серия карт могла быть заменена, и смена узора не требовала изменений в механике станка. Это было важной вехой в истории программирования. </a:t>
            </a:r>
          </a:p>
          <a:p>
            <a:r>
              <a:rPr lang="ru-RU" sz="1800" dirty="0"/>
              <a:t>В 1832 году </a:t>
            </a:r>
            <a:r>
              <a:rPr lang="ru-RU" sz="1800" dirty="0">
                <a:hlinkClick r:id="rId4" tooltip="Корсаков, Семён Николаевич"/>
              </a:rPr>
              <a:t>Семен Корсаков</a:t>
            </a:r>
            <a:r>
              <a:rPr lang="ru-RU" sz="1800" dirty="0"/>
              <a:t> применил перфорированные карты в конструкции разработанных им «интеллектуальных машин», механических устройств для информационного поиска, являющихся прообразами современных экспертных систем. </a:t>
            </a:r>
          </a:p>
          <a:p>
            <a:endParaRPr lang="ru-RU" sz="1800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4947" y="1628800"/>
            <a:ext cx="3250146" cy="4333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4788024" y="5962359"/>
            <a:ext cx="414008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>
                <a:hlinkClick r:id="rId6"/>
              </a:rPr>
              <a:t>http://wiki-org.ru/wiki/%D0%98%D1%81%D1%82%D0%BE%D1%80%D0%B8%D1%8F_%D0%B2%D1%8B%D1%87%D0%B8%D1%81%D0%BB%D0%B8%D1%82%D0%B5%D0%BB%D1%8C%D0%BD%D0%BE%D0%B9_%D1%82%D0%B5%D1%85%D0%BD%D0%B8%D0%BA%D0%B8</a:t>
            </a:r>
            <a:endParaRPr lang="ru-RU" sz="800" dirty="0"/>
          </a:p>
          <a:p>
            <a:endParaRPr lang="ru-RU" sz="800" dirty="0"/>
          </a:p>
        </p:txBody>
      </p:sp>
    </p:spTree>
    <p:extLst>
      <p:ext uri="{BB962C8B-B14F-4D97-AF65-F5344CB8AC3E}">
        <p14:creationId xmlns:p14="http://schemas.microsoft.com/office/powerpoint/2010/main" val="16836703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Электронные вычислительные машины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000" dirty="0"/>
              <a:t>Первая электронная вычислительная машина на основе </a:t>
            </a:r>
            <a:r>
              <a:rPr lang="ru-RU" sz="2000" dirty="0">
                <a:solidFill>
                  <a:schemeClr val="tx2">
                    <a:lumMod val="75000"/>
                  </a:schemeClr>
                </a:solidFill>
              </a:rPr>
              <a:t>электронных вакуумных ламп </a:t>
            </a:r>
            <a:r>
              <a:rPr lang="ru-RU" sz="2000" dirty="0"/>
              <a:t>с нитью накаливания была создана по заказу артиллеристов в </a:t>
            </a:r>
            <a:r>
              <a:rPr lang="ru-RU" sz="2000" dirty="0" err="1"/>
              <a:t>Пенсильванском</a:t>
            </a:r>
            <a:r>
              <a:rPr lang="ru-RU" sz="2000" dirty="0"/>
              <a:t> университете </a:t>
            </a:r>
          </a:p>
          <a:p>
            <a:r>
              <a:rPr lang="ru-RU" sz="2000" dirty="0"/>
              <a:t>в 1946 году – машина 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ENIAC</a:t>
            </a:r>
            <a:r>
              <a:rPr lang="ru-RU" sz="20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2000" b="1" dirty="0"/>
              <a:t>работала в десятичной системе исчисления </a:t>
            </a:r>
            <a:r>
              <a:rPr lang="ru-RU" sz="2000" dirty="0"/>
              <a:t>(</a:t>
            </a:r>
            <a:r>
              <a:rPr lang="en-US" sz="2000" dirty="0"/>
              <a:t>Electronic Numeral Integrator and Computer</a:t>
            </a:r>
            <a:r>
              <a:rPr lang="ru-RU" sz="2000" dirty="0"/>
              <a:t>).</a:t>
            </a:r>
          </a:p>
          <a:p>
            <a:endParaRPr lang="ru-RU" sz="20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2627784" y="6442827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900" dirty="0"/>
              <a:t>Автор: неизвестен - U.S. </a:t>
            </a:r>
            <a:r>
              <a:rPr lang="ru-RU" sz="900" dirty="0" err="1"/>
              <a:t>Army</a:t>
            </a:r>
            <a:r>
              <a:rPr lang="ru-RU" sz="900" dirty="0"/>
              <a:t> </a:t>
            </a:r>
            <a:r>
              <a:rPr lang="ru-RU" sz="900" dirty="0" err="1"/>
              <a:t>Photo</a:t>
            </a:r>
            <a:r>
              <a:rPr lang="ru-RU" sz="900" dirty="0"/>
              <a:t>, Общественное достояние, https://commons.wikimedia.org/w/index.php?curid=55124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3370163"/>
            <a:ext cx="4052905" cy="30954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361356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502" y="1340768"/>
            <a:ext cx="8356554" cy="4839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800" dirty="0"/>
              <a:t>Древо родственных связей ранних компьютеров </a:t>
            </a:r>
            <a:br>
              <a:rPr lang="ru-RU" sz="2800" dirty="0"/>
            </a:br>
            <a:r>
              <a:rPr lang="ru-RU" sz="2800" dirty="0"/>
              <a:t>50-х и 60-х годов. Корень – ENIAC </a:t>
            </a:r>
            <a:br>
              <a:rPr lang="ru-RU" sz="2800" dirty="0"/>
            </a:br>
            <a:r>
              <a:rPr lang="ru-RU" sz="2800" dirty="0">
                <a:hlinkClick r:id="rId3"/>
              </a:rPr>
              <a:t>(материал из Википедии)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5364088" y="6389283"/>
            <a:ext cx="326253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880" lvl="0" indent="-182880">
              <a:spcBef>
                <a:spcPct val="20000"/>
              </a:spcBef>
              <a:buClr>
                <a:srgbClr val="93A299"/>
              </a:buClr>
              <a:buSzPct val="85000"/>
              <a:buFont typeface="Arial" pitchFamily="34" charset="0"/>
              <a:buChar char="•"/>
            </a:pPr>
            <a:r>
              <a:rPr lang="en-US" sz="1000" dirty="0">
                <a:solidFill>
                  <a:srgbClr val="292934"/>
                </a:solidFill>
              </a:rPr>
              <a:t>https://upload.wikimedia.org/wikipedia/commons/8/8d/The_computer_tree-U.S._Army_diagram.png</a:t>
            </a:r>
            <a:endParaRPr lang="ru-RU" sz="1000" dirty="0">
              <a:solidFill>
                <a:srgbClr val="29293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23943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Основные принципы организации ЭВМ по Джону фон Нейману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5536" y="1844824"/>
            <a:ext cx="4042792" cy="48768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vi-VN" b="1" dirty="0"/>
              <a:t>Джон фон Не́йман </a:t>
            </a:r>
            <a:r>
              <a:rPr lang="ru-RU" dirty="0"/>
              <a:t>математик и педагог, сделавший важный вклад в квантовую физику, квантовую логику, функциональный анализ, с именем которого связывают архитектуру большинства современных компьютеров (так называемая </a:t>
            </a:r>
            <a:r>
              <a:rPr lang="ru-RU" dirty="0">
                <a:hlinkClick r:id="rId2" tooltip="Архитектура фон Неймана"/>
              </a:rPr>
              <a:t>архитектура фон Неймана</a:t>
            </a:r>
            <a:r>
              <a:rPr lang="ru-RU" dirty="0"/>
              <a:t>),создатель </a:t>
            </a:r>
            <a:r>
              <a:rPr lang="ru-RU" dirty="0">
                <a:hlinkClick r:id="rId3" tooltip="Теория игр"/>
              </a:rPr>
              <a:t>теории игр</a:t>
            </a:r>
            <a:r>
              <a:rPr lang="ru-RU" dirty="0"/>
              <a:t> и концепции клеточных автоматов. </a:t>
            </a:r>
          </a:p>
          <a:p>
            <a:pPr marL="0" indent="0">
              <a:buNone/>
            </a:pPr>
            <a:endParaRPr lang="ru-RU" sz="900" dirty="0">
              <a:hlinkClick r:id="rId4"/>
            </a:endParaRPr>
          </a:p>
          <a:p>
            <a:pPr marL="0" indent="0">
              <a:buNone/>
            </a:pPr>
            <a:endParaRPr lang="ru-RU" sz="900" dirty="0">
              <a:hlinkClick r:id="rId4"/>
            </a:endParaRPr>
          </a:p>
          <a:p>
            <a:pPr marL="0" indent="0">
              <a:buNone/>
            </a:pPr>
            <a:endParaRPr lang="ru-RU" sz="900" dirty="0"/>
          </a:p>
          <a:p>
            <a:pPr marL="0" indent="0">
              <a:buNone/>
            </a:pPr>
            <a:r>
              <a:rPr lang="ru-RU" sz="1300" dirty="0">
                <a:hlinkClick r:id="rId4"/>
              </a:rPr>
              <a:t>Материал из Википедии</a:t>
            </a:r>
            <a:endParaRPr lang="ru-RU" sz="13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4572000" y="6192413"/>
            <a:ext cx="462741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ct val="20000"/>
              </a:spcBef>
              <a:buClr>
                <a:srgbClr val="93A299"/>
              </a:buClr>
              <a:buSzPct val="85000"/>
            </a:pPr>
            <a:r>
              <a:rPr lang="en-US" sz="1000" dirty="0" err="1">
                <a:solidFill>
                  <a:srgbClr val="292934"/>
                </a:solidFill>
              </a:rPr>
              <a:t>Автор</a:t>
            </a:r>
            <a:r>
              <a:rPr lang="en-US" sz="1000" dirty="0">
                <a:solidFill>
                  <a:srgbClr val="292934"/>
                </a:solidFill>
              </a:rPr>
              <a:t>: </a:t>
            </a:r>
            <a:r>
              <a:rPr lang="en-US" sz="1000" dirty="0" err="1">
                <a:solidFill>
                  <a:srgbClr val="292934"/>
                </a:solidFill>
              </a:rPr>
              <a:t>wikispaces</a:t>
            </a:r>
            <a:r>
              <a:rPr lang="en-US" sz="1000" dirty="0">
                <a:solidFill>
                  <a:srgbClr val="292934"/>
                </a:solidFill>
              </a:rPr>
              <a:t> - http://chessprogramming.wikispaces.com/John+von+Neumann, CC BY-SA 3.0, https://commons.wikimedia.org/w/index.php?curid=17541659</a:t>
            </a:r>
            <a:endParaRPr lang="ru-RU" sz="1000" dirty="0">
              <a:solidFill>
                <a:srgbClr val="292934"/>
              </a:solidFill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204864"/>
            <a:ext cx="3429000" cy="3905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176947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Основные принципы организации ЭВМ по Джону фон Нейману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1700808"/>
            <a:ext cx="8229600" cy="4876800"/>
          </a:xfrm>
        </p:spPr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1. Принцип двоичного кодирования</a:t>
            </a:r>
            <a:r>
              <a:rPr lang="ru-RU" dirty="0"/>
              <a:t>. </a:t>
            </a:r>
          </a:p>
          <a:p>
            <a:pPr marL="0" lvl="0" indent="0">
              <a:buNone/>
            </a:pPr>
            <a:r>
              <a:rPr lang="ru-RU" dirty="0"/>
              <a:t>Электронные машины должны работать не в десятичной, а в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двоичной</a:t>
            </a:r>
            <a:r>
              <a:rPr lang="ru-RU" dirty="0"/>
              <a:t> системе счисления.</a:t>
            </a:r>
          </a:p>
          <a:p>
            <a:pPr marL="0" lvl="0" indent="0">
              <a:buNone/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2. Принцип программного управления. </a:t>
            </a:r>
          </a:p>
          <a:p>
            <a:pPr marL="0" lvl="0" indent="0">
              <a:buNone/>
            </a:pPr>
            <a:r>
              <a:rPr lang="ru-RU" dirty="0"/>
              <a:t>Машина выполняет вычисления по программе. Программа состоит из набора команд, которые исполняются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автоматически друг за другом</a:t>
            </a:r>
            <a:r>
              <a:rPr lang="ru-RU" dirty="0"/>
              <a:t> в определенной последовательности.</a:t>
            </a:r>
          </a:p>
          <a:p>
            <a:pPr marL="0" lvl="0" indent="0">
              <a:buNone/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3. Принцип хранимой программы. </a:t>
            </a:r>
          </a:p>
          <a:p>
            <a:pPr marL="0" lvl="0" indent="0">
              <a:buNone/>
            </a:pPr>
            <a:r>
              <a:rPr lang="ru-RU" dirty="0"/>
              <a:t>В процессе решения задачи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программа</a:t>
            </a:r>
            <a:r>
              <a:rPr lang="ru-RU" dirty="0"/>
              <a:t> ее исполнения должна размещаться в запоминающем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устройстве</a:t>
            </a:r>
            <a:r>
              <a:rPr lang="ru-RU" dirty="0"/>
              <a:t> машины, обладающем высокой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скоростью</a:t>
            </a:r>
            <a:r>
              <a:rPr lang="ru-RU" dirty="0"/>
              <a:t> выборки и записи.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105578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Основные принципы организации ЭВМ по Джону фон Нейману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39552" y="1700808"/>
            <a:ext cx="8229600" cy="4876800"/>
          </a:xfrm>
        </p:spPr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4. Принцип однотипности представления чисел и команд.</a:t>
            </a:r>
          </a:p>
          <a:p>
            <a:pPr marL="0" lvl="0" indent="0">
              <a:buNone/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Программа</a:t>
            </a:r>
            <a:r>
              <a:rPr lang="ru-RU" dirty="0"/>
              <a:t>, так же как и числа, с которыми оперирует машина, записывается в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двоичном коде</a:t>
            </a:r>
            <a:r>
              <a:rPr lang="ru-RU" dirty="0"/>
              <a:t>. Таким образом, по форме представления команды и числа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однотипны</a:t>
            </a:r>
            <a:r>
              <a:rPr lang="ru-RU" dirty="0"/>
              <a:t>, а это дает возможность машине исполнять операции над командами программы.</a:t>
            </a:r>
          </a:p>
          <a:p>
            <a:pPr marL="0" lvl="0" indent="0">
              <a:buNone/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5. Принцип иерархичности памяти. </a:t>
            </a:r>
          </a:p>
          <a:p>
            <a:pPr marL="0" lvl="0" indent="0">
              <a:buNone/>
            </a:pPr>
            <a:r>
              <a:rPr lang="ru-RU" dirty="0"/>
              <a:t>Должно быть по меньшей мере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два уровня </a:t>
            </a:r>
            <a:r>
              <a:rPr lang="ru-RU" dirty="0"/>
              <a:t>иерархии: основная память и внешняя память.</a:t>
            </a:r>
          </a:p>
          <a:p>
            <a:pPr marL="0" lvl="0" indent="0">
              <a:buNone/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6. Принцип адресности основной памяти. </a:t>
            </a:r>
          </a:p>
          <a:p>
            <a:pPr marL="0" lvl="0" indent="0">
              <a:buNone/>
            </a:pPr>
            <a:r>
              <a:rPr lang="ru-RU" dirty="0"/>
              <a:t>Основная память должна состоять из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пронумерованных ячеек</a:t>
            </a:r>
            <a:r>
              <a:rPr lang="ru-RU" dirty="0"/>
              <a:t>, каждая из которых доступна программе в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любой момент </a:t>
            </a:r>
            <a:r>
              <a:rPr lang="ru-RU" dirty="0"/>
              <a:t>времени по ее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двоичному адресу </a:t>
            </a:r>
            <a:r>
              <a:rPr lang="ru-RU" dirty="0"/>
              <a:t>или по присвоенному ей имени.</a:t>
            </a:r>
          </a:p>
        </p:txBody>
      </p:sp>
    </p:spTree>
    <p:extLst>
      <p:ext uri="{BB962C8B-B14F-4D97-AF65-F5344CB8AC3E}">
        <p14:creationId xmlns:p14="http://schemas.microsoft.com/office/powerpoint/2010/main" val="32161921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Структура ЭВМ по Джону фон Нейману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3568" y="1700808"/>
            <a:ext cx="7715200" cy="4704184"/>
          </a:xfrm>
        </p:spPr>
        <p:txBody>
          <a:bodyPr/>
          <a:lstStyle/>
          <a:p>
            <a:r>
              <a:rPr lang="ru-RU" dirty="0"/>
              <a:t>Управляющее устройство;</a:t>
            </a:r>
          </a:p>
          <a:p>
            <a:r>
              <a:rPr lang="ru-RU" dirty="0"/>
              <a:t>арифметическое устройство;</a:t>
            </a:r>
          </a:p>
          <a:p>
            <a:r>
              <a:rPr lang="ru-RU" dirty="0"/>
              <a:t>основная (оперативная) и внешняя память; </a:t>
            </a:r>
          </a:p>
          <a:p>
            <a:r>
              <a:rPr lang="ru-RU" dirty="0"/>
              <a:t>устройство ввода программ и данных; </a:t>
            </a:r>
          </a:p>
          <a:p>
            <a:r>
              <a:rPr lang="ru-RU" dirty="0"/>
              <a:t>устройство вывода результатов расчетов;</a:t>
            </a:r>
          </a:p>
          <a:p>
            <a:r>
              <a:rPr lang="ru-RU" dirty="0"/>
              <a:t>пульт ручного управления.</a:t>
            </a:r>
          </a:p>
        </p:txBody>
      </p:sp>
    </p:spTree>
    <p:extLst>
      <p:ext uri="{BB962C8B-B14F-4D97-AF65-F5344CB8AC3E}">
        <p14:creationId xmlns:p14="http://schemas.microsoft.com/office/powerpoint/2010/main" val="7513533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 descr="Вырезка экрана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2204864"/>
            <a:ext cx="7617983" cy="3178630"/>
          </a:xfrm>
        </p:spPr>
      </p:pic>
      <p:sp>
        <p:nvSpPr>
          <p:cNvPr id="5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Структура ЭВМ по Джону фон Нейману</a:t>
            </a:r>
          </a:p>
        </p:txBody>
      </p:sp>
    </p:spTree>
    <p:extLst>
      <p:ext uri="{BB962C8B-B14F-4D97-AF65-F5344CB8AC3E}">
        <p14:creationId xmlns:p14="http://schemas.microsoft.com/office/powerpoint/2010/main" val="23008212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Электронные счетные машины в СССР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1412776"/>
            <a:ext cx="8229600" cy="4876800"/>
          </a:xfrm>
        </p:spPr>
        <p:txBody>
          <a:bodyPr/>
          <a:lstStyle/>
          <a:p>
            <a:r>
              <a:rPr lang="ru-RU" dirty="0"/>
              <a:t>В начале 50-х по заказу атомщиков в 1951 году в Киеве под руководством академика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С.А. Лебедева </a:t>
            </a:r>
            <a:r>
              <a:rPr lang="ru-RU" dirty="0"/>
              <a:t>была создана первая отечественная машина МЭСМ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(малая электронная счетная машина)</a:t>
            </a:r>
            <a:r>
              <a:rPr lang="ru-RU" dirty="0"/>
              <a:t>; в 1952 году БЭСМ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(большая (</a:t>
            </a:r>
            <a:r>
              <a:rPr lang="ru-RU">
                <a:solidFill>
                  <a:schemeClr val="tx2">
                    <a:lumMod val="75000"/>
                  </a:schemeClr>
                </a:solidFill>
              </a:rPr>
              <a:t>быстродействующая))</a:t>
            </a:r>
            <a:r>
              <a:rPr lang="ru-RU"/>
              <a:t> </a:t>
            </a:r>
            <a:r>
              <a:rPr lang="ru-RU" dirty="0"/>
              <a:t>ЭСМ, имевшая позже продолжения БЭСМ-2, БЭСМ-4, БЭСМ-6</a:t>
            </a:r>
          </a:p>
          <a:p>
            <a:endParaRPr lang="ru-RU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3717032"/>
            <a:ext cx="3739130" cy="25139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3335123" y="6446977"/>
            <a:ext cx="24737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hlinkClick r:id="rId3"/>
              </a:rPr>
              <a:t>http://besm-6.ru/besm-series.html</a:t>
            </a:r>
            <a:endParaRPr lang="ru-RU" sz="1200" dirty="0"/>
          </a:p>
          <a:p>
            <a:endParaRPr lang="ru-RU" sz="1200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3992093"/>
            <a:ext cx="3312368" cy="2209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519230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Блок-схема БЭСМ</a:t>
            </a:r>
          </a:p>
        </p:txBody>
      </p:sp>
      <p:pic>
        <p:nvPicPr>
          <p:cNvPr id="4" name="Объект 3" descr="Вырезка экрана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4127" y="1402162"/>
            <a:ext cx="5854217" cy="4984678"/>
          </a:xfrm>
        </p:spPr>
      </p:pic>
    </p:spTree>
    <p:extLst>
      <p:ext uri="{BB962C8B-B14F-4D97-AF65-F5344CB8AC3E}">
        <p14:creationId xmlns:p14="http://schemas.microsoft.com/office/powerpoint/2010/main" val="28031994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548680"/>
            <a:ext cx="8229600" cy="990600"/>
          </a:xfrm>
        </p:spPr>
        <p:txBody>
          <a:bodyPr/>
          <a:lstStyle/>
          <a:p>
            <a:r>
              <a:rPr lang="ru-RU" dirty="0"/>
              <a:t>Эволюция ЭВМ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Начиная с 1950 года каждые 7-10 лет кардинально обновлялись конструктивно-технологические и программно-алгоритмические принципы построения и использования ЭВМ. </a:t>
            </a:r>
          </a:p>
          <a:p>
            <a:r>
              <a:rPr lang="ru-RU" dirty="0"/>
              <a:t>Каждому поколению можно отвести 10 лет.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9444" y="3645024"/>
            <a:ext cx="4464496" cy="2720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3290149" y="6525344"/>
            <a:ext cx="205857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dirty="0">
                <a:hlinkClick r:id="rId3"/>
              </a:rPr>
              <a:t>http://besm-6.ru/besm-series.htm</a:t>
            </a:r>
            <a:endParaRPr lang="ru-RU" sz="1000" dirty="0"/>
          </a:p>
          <a:p>
            <a:r>
              <a:rPr lang="en-US" sz="1000" dirty="0"/>
              <a:t>l</a:t>
            </a:r>
            <a:endParaRPr lang="ru-RU" sz="1000" dirty="0"/>
          </a:p>
        </p:txBody>
      </p:sp>
    </p:spTree>
    <p:extLst>
      <p:ext uri="{BB962C8B-B14F-4D97-AF65-F5344CB8AC3E}">
        <p14:creationId xmlns:p14="http://schemas.microsoft.com/office/powerpoint/2010/main" val="33525484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476672"/>
            <a:ext cx="8435280" cy="990600"/>
          </a:xfrm>
        </p:spPr>
        <p:txBody>
          <a:bodyPr>
            <a:normAutofit fontScale="90000"/>
          </a:bodyPr>
          <a:lstStyle/>
          <a:p>
            <a:r>
              <a:rPr lang="ru-RU" dirty="0"/>
              <a:t>Первое поколение ЭВМ: 1950-1960 годы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Логические схемы создавались на дискретных радиодеталях и </a:t>
            </a:r>
            <a:r>
              <a:rPr lang="ru-RU" b="1" dirty="0"/>
              <a:t>электронных вакуумных</a:t>
            </a:r>
            <a:r>
              <a:rPr lang="ru-RU" dirty="0"/>
              <a:t> лампах с нитью накала.</a:t>
            </a:r>
          </a:p>
          <a:p>
            <a:r>
              <a:rPr lang="ru-RU" dirty="0"/>
              <a:t>В оперативных запоминающих устройствах использовались </a:t>
            </a:r>
            <a:r>
              <a:rPr lang="ru-RU" b="1" dirty="0"/>
              <a:t>магнитные барабаны</a:t>
            </a:r>
            <a:r>
              <a:rPr lang="ru-RU" dirty="0"/>
              <a:t>, акустические ультразвуковые ртутные и электромагнитные линии задержки, электроннолучевые трубки (ЭЛТ); позже – магнитные ферритовые сердечники.</a:t>
            </a:r>
          </a:p>
          <a:p>
            <a:r>
              <a:rPr lang="ru-RU" dirty="0"/>
              <a:t>В качестве внешних запоминающих устройств применялись </a:t>
            </a:r>
            <a:r>
              <a:rPr lang="ru-RU" b="1" dirty="0"/>
              <a:t>накопители на магнитных лентах</a:t>
            </a:r>
            <a:r>
              <a:rPr lang="ru-RU" dirty="0"/>
              <a:t>, </a:t>
            </a:r>
            <a:r>
              <a:rPr lang="ru-RU" b="1" dirty="0"/>
              <a:t>перфокартах</a:t>
            </a:r>
            <a:r>
              <a:rPr lang="ru-RU" dirty="0"/>
              <a:t>, перфолентах и штекерные коммутаторы.</a:t>
            </a:r>
          </a:p>
        </p:txBody>
      </p:sp>
    </p:spTree>
    <p:extLst>
      <p:ext uri="{BB962C8B-B14F-4D97-AF65-F5344CB8AC3E}">
        <p14:creationId xmlns:p14="http://schemas.microsoft.com/office/powerpoint/2010/main" val="37935841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Напряжения питания компьютерных схем составляли десятки – сотни вольт, а в случае использования ЭЛТ и киловольты. </a:t>
            </a:r>
          </a:p>
          <a:p>
            <a:r>
              <a:rPr lang="ru-RU" dirty="0"/>
              <a:t>Машины потребляли несколько десятков киловатт. Они имели центральное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устройство управления </a:t>
            </a:r>
            <a:r>
              <a:rPr lang="ru-RU" dirty="0"/>
              <a:t>(УУ), обеспечивающее строго последовательную работу всех основных устройств. </a:t>
            </a:r>
          </a:p>
          <a:p>
            <a:r>
              <a:rPr lang="ru-RU" dirty="0"/>
              <a:t>Тактовая частота работы УУ была в пределах десятков – сотен килогерц. </a:t>
            </a:r>
          </a:p>
          <a:p>
            <a:r>
              <a:rPr lang="ru-RU" dirty="0"/>
              <a:t>Ввод-вывод информации осуществлялся </a:t>
            </a:r>
            <a:r>
              <a:rPr lang="ru-RU" b="1" dirty="0"/>
              <a:t>с перфокарт, перфолент</a:t>
            </a:r>
            <a:r>
              <a:rPr lang="ru-RU" dirty="0"/>
              <a:t>, </a:t>
            </a:r>
            <a:r>
              <a:rPr lang="ru-RU" b="1" dirty="0"/>
              <a:t>магнитных ле</a:t>
            </a:r>
            <a:r>
              <a:rPr lang="ru-RU" dirty="0"/>
              <a:t>нт или с клавиатуры.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251520" y="533400"/>
            <a:ext cx="8568952" cy="990600"/>
          </a:xfrm>
        </p:spPr>
        <p:txBody>
          <a:bodyPr>
            <a:normAutofit fontScale="90000"/>
          </a:bodyPr>
          <a:lstStyle/>
          <a:p>
            <a:r>
              <a:rPr lang="ru-RU" dirty="0"/>
              <a:t>Первое поколение ЭВМ: 1950-1960 годы</a:t>
            </a:r>
          </a:p>
        </p:txBody>
      </p:sp>
    </p:spTree>
    <p:extLst>
      <p:ext uri="{BB962C8B-B14F-4D97-AF65-F5344CB8AC3E}">
        <p14:creationId xmlns:p14="http://schemas.microsoft.com/office/powerpoint/2010/main" val="5736217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251520" y="533400"/>
            <a:ext cx="8435280" cy="990600"/>
          </a:xfrm>
        </p:spPr>
        <p:txBody>
          <a:bodyPr>
            <a:normAutofit fontScale="90000"/>
          </a:bodyPr>
          <a:lstStyle/>
          <a:p>
            <a:r>
              <a:rPr lang="ru-RU" dirty="0"/>
              <a:t>Первое поколение ЭВМ: 1950-1960 годы</a:t>
            </a:r>
          </a:p>
        </p:txBody>
      </p:sp>
      <p:sp>
        <p:nvSpPr>
          <p:cNvPr id="5" name="Заголовок 1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10000"/>
          </a:bodyPr>
          <a:lstStyle/>
          <a:p>
            <a:r>
              <a:rPr lang="ru-RU" dirty="0"/>
              <a:t>Программирование работы ЭВМ этого поколения выполнялось в двоичной системе счисления на машинном языке, то есть программы были жестко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ориентированы на конкретную модель машины</a:t>
            </a:r>
            <a:r>
              <a:rPr lang="ru-RU" dirty="0"/>
              <a:t> и «умирали» вместе с этими моделями.</a:t>
            </a:r>
          </a:p>
          <a:p>
            <a:r>
              <a:rPr lang="ru-RU" dirty="0"/>
              <a:t>Только в середине 50-х годов появились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машинно-ориентированные языки</a:t>
            </a:r>
            <a:r>
              <a:rPr lang="ru-RU" dirty="0"/>
              <a:t> типа языков символического кодирования (ЯСК), позволявшие вместо двоичной записи команд и адресов использовать их сокращенную словесную (буквенную) запись и десятичные числа. </a:t>
            </a:r>
          </a:p>
          <a:p>
            <a:r>
              <a:rPr lang="ru-RU" dirty="0"/>
              <a:t>В 1956 году был создан первый язык программирования высокого уровня для математических задач –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язык ФОРТРАН, а в 1958 году – универсальный язык программирования АЛГОЛ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988073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Надежность</a:t>
            </a:r>
            <a:r>
              <a:rPr lang="ru-RU" dirty="0"/>
              <a:t> машин первого поколения была крайне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низкой</a:t>
            </a:r>
            <a:r>
              <a:rPr lang="ru-RU" dirty="0"/>
              <a:t>. </a:t>
            </a:r>
          </a:p>
          <a:p>
            <a:r>
              <a:rPr lang="ru-RU" dirty="0"/>
              <a:t>Для поддержания приемлемого уровня надежности машины требовали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регулярного</a:t>
            </a:r>
            <a:r>
              <a:rPr lang="ru-RU" dirty="0"/>
              <a:t> ежесуточного профилактического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обслуживания</a:t>
            </a:r>
            <a:r>
              <a:rPr lang="ru-RU" dirty="0"/>
              <a:t>. </a:t>
            </a:r>
          </a:p>
          <a:p>
            <a:r>
              <a:rPr lang="ru-RU" dirty="0"/>
              <a:t>Организационно ЭВМ эксплуатировались в составе вычислительных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центров</a:t>
            </a:r>
            <a:r>
              <a:rPr lang="ru-RU" dirty="0"/>
              <a:t>, причем для эффективного использования каждой ЭВМ необходим был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штат</a:t>
            </a:r>
            <a:r>
              <a:rPr lang="ru-RU" dirty="0"/>
              <a:t> 10-20 программистов (программы с одной машины на другую, как правило,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не переносились</a:t>
            </a:r>
            <a:r>
              <a:rPr lang="ru-RU" dirty="0"/>
              <a:t>).</a:t>
            </a:r>
          </a:p>
          <a:p>
            <a:r>
              <a:rPr lang="ru-RU" dirty="0"/>
              <a:t>Названные ранее ЭВМ, начиная </a:t>
            </a:r>
            <a:r>
              <a:rPr lang="en-US" dirty="0"/>
              <a:t>UNIVAC</a:t>
            </a:r>
            <a:r>
              <a:rPr lang="ru-RU" dirty="0"/>
              <a:t> и заканчивая БЭСМ-2 и первыми моделями ЭВМ «Минск» и «Урал», относятся к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первому поколению </a:t>
            </a:r>
            <a:r>
              <a:rPr lang="ru-RU" dirty="0"/>
              <a:t>вычислительных машин.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435280" cy="990600"/>
          </a:xfrm>
        </p:spPr>
        <p:txBody>
          <a:bodyPr>
            <a:normAutofit fontScale="90000"/>
          </a:bodyPr>
          <a:lstStyle/>
          <a:p>
            <a:r>
              <a:rPr lang="ru-RU" dirty="0"/>
              <a:t>Первое поколение ЭВМ: 1950-1960 годы</a:t>
            </a:r>
          </a:p>
        </p:txBody>
      </p:sp>
    </p:spTree>
    <p:extLst>
      <p:ext uri="{BB962C8B-B14F-4D97-AF65-F5344CB8AC3E}">
        <p14:creationId xmlns:p14="http://schemas.microsoft.com/office/powerpoint/2010/main" val="38329819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7504" y="533400"/>
            <a:ext cx="8579296" cy="990600"/>
          </a:xfrm>
        </p:spPr>
        <p:txBody>
          <a:bodyPr>
            <a:normAutofit fontScale="90000"/>
          </a:bodyPr>
          <a:lstStyle/>
          <a:p>
            <a:r>
              <a:rPr lang="ru-RU" dirty="0"/>
              <a:t>Второе поколение ЭВМ: 1960-1970 годы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Логические схемы строились на дискретных </a:t>
            </a:r>
            <a:r>
              <a:rPr lang="ru-RU" b="1" dirty="0"/>
              <a:t>полупроводниковых и магнитных элементах </a:t>
            </a:r>
            <a:r>
              <a:rPr lang="ru-RU" dirty="0"/>
              <a:t>(диоды, биполярные транзисторы, тороидальные ферритовые </a:t>
            </a:r>
            <a:r>
              <a:rPr lang="ru-RU" dirty="0" err="1"/>
              <a:t>микротрансформаторы</a:t>
            </a:r>
            <a:r>
              <a:rPr lang="ru-RU" dirty="0"/>
              <a:t>). </a:t>
            </a:r>
          </a:p>
          <a:p>
            <a:r>
              <a:rPr lang="ru-RU" dirty="0"/>
              <a:t>В качестве конструктивно-технологической основы использовались </a:t>
            </a:r>
            <a:r>
              <a:rPr lang="ru-RU" b="1" dirty="0"/>
              <a:t>схемы с печатным монтажом </a:t>
            </a:r>
            <a:r>
              <a:rPr lang="ru-RU" dirty="0"/>
              <a:t>(платы из фольгированного </a:t>
            </a:r>
            <a:r>
              <a:rPr lang="ru-RU" dirty="0" err="1"/>
              <a:t>гетинакса</a:t>
            </a:r>
            <a:r>
              <a:rPr lang="ru-RU" dirty="0"/>
              <a:t>). </a:t>
            </a:r>
          </a:p>
          <a:p>
            <a:r>
              <a:rPr lang="ru-RU" dirty="0"/>
              <a:t>Широко стал </a:t>
            </a:r>
            <a:r>
              <a:rPr lang="ru-RU" b="1" dirty="0"/>
              <a:t>использоваться блочный принцип конструирования машин</a:t>
            </a:r>
            <a:r>
              <a:rPr lang="ru-RU" dirty="0"/>
              <a:t>, который позволяет подключать к основным устройствам большое число разнообразных внешних устройств, что обеспечивает большую гибкость использования компьютеров.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15754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Появились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первые операционные системы </a:t>
            </a:r>
            <a:r>
              <a:rPr lang="ru-RU" dirty="0"/>
              <a:t>и алгоритмические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языки</a:t>
            </a:r>
            <a:r>
              <a:rPr lang="ru-RU" dirty="0"/>
              <a:t> машинно-ориентированного низкоуровневого (ассемблеры) и высокоуровневого программирования (Кобол, Бейсик и др.). </a:t>
            </a:r>
          </a:p>
          <a:p>
            <a:r>
              <a:rPr lang="ru-RU" dirty="0"/>
              <a:t>Программы стали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переносимыми</a:t>
            </a:r>
            <a:r>
              <a:rPr lang="ru-RU" dirty="0"/>
              <a:t> с одного типа компьютера на другой.</a:t>
            </a:r>
          </a:p>
          <a:p>
            <a:r>
              <a:rPr lang="ru-RU" dirty="0"/>
              <a:t>В машинах второго поколения были впервые реализованы режимы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пакетной обработки </a:t>
            </a:r>
            <a:r>
              <a:rPr lang="ru-RU" dirty="0"/>
              <a:t>и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телеобработки информации</a:t>
            </a:r>
            <a:r>
              <a:rPr lang="ru-RU" dirty="0"/>
              <a:t>.</a:t>
            </a:r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251520" y="476672"/>
            <a:ext cx="8686800" cy="990600"/>
          </a:xfrm>
        </p:spPr>
        <p:txBody>
          <a:bodyPr>
            <a:normAutofit fontScale="90000"/>
          </a:bodyPr>
          <a:lstStyle/>
          <a:p>
            <a:r>
              <a:rPr lang="ru-RU" dirty="0"/>
              <a:t>Второе поколение ЭВМ: 1960-1970 годы</a:t>
            </a:r>
          </a:p>
        </p:txBody>
      </p:sp>
    </p:spTree>
    <p:extLst>
      <p:ext uri="{BB962C8B-B14F-4D97-AF65-F5344CB8AC3E}">
        <p14:creationId xmlns:p14="http://schemas.microsoft.com/office/powerpoint/2010/main" val="5666614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62399" y="620688"/>
            <a:ext cx="8856984" cy="990600"/>
          </a:xfrm>
        </p:spPr>
        <p:txBody>
          <a:bodyPr>
            <a:noAutofit/>
          </a:bodyPr>
          <a:lstStyle/>
          <a:p>
            <a:r>
              <a:rPr lang="ru-RU" sz="3200" dirty="0"/>
              <a:t>Основные направления совершенствования ЭВМ второго поколения:</a:t>
            </a:r>
            <a:br>
              <a:rPr lang="ru-RU" sz="3200" dirty="0"/>
            </a:b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ru-RU" dirty="0"/>
              <a:t>Переход на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полупроводниковую элементную </a:t>
            </a:r>
            <a:r>
              <a:rPr lang="ru-RU" dirty="0"/>
              <a:t>базу и печатный монтаж.</a:t>
            </a:r>
          </a:p>
          <a:p>
            <a:pPr lvl="0"/>
            <a:r>
              <a:rPr lang="ru-RU" dirty="0"/>
              <a:t>Блочный принцип конструирования и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унификация</a:t>
            </a:r>
            <a:r>
              <a:rPr lang="ru-RU" dirty="0"/>
              <a:t> ячеек и блоков ЭВМ.</a:t>
            </a:r>
          </a:p>
          <a:p>
            <a:pPr lvl="0"/>
            <a:r>
              <a:rPr lang="ru-RU" dirty="0"/>
              <a:t>Ориентация ЭВМ не только на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вычислительную </a:t>
            </a:r>
            <a:r>
              <a:rPr lang="ru-RU" dirty="0"/>
              <a:t>работу, но и на работу с массивами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информации</a:t>
            </a:r>
            <a:r>
              <a:rPr lang="ru-RU" dirty="0"/>
              <a:t>.</a:t>
            </a:r>
          </a:p>
          <a:p>
            <a:pPr lvl="0"/>
            <a:r>
              <a:rPr lang="ru-RU" dirty="0"/>
              <a:t>Повышение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надежности</a:t>
            </a:r>
            <a:r>
              <a:rPr lang="ru-RU" dirty="0"/>
              <a:t> работы машин, использование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кодов</a:t>
            </a:r>
            <a:r>
              <a:rPr lang="ru-RU" dirty="0"/>
              <a:t> с обнаружением и исправлением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ошибок</a:t>
            </a:r>
            <a:r>
              <a:rPr lang="ru-RU" dirty="0"/>
              <a:t> и встроенных схем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контроля</a:t>
            </a:r>
            <a:r>
              <a:rPr lang="ru-RU" dirty="0"/>
              <a:t>.</a:t>
            </a:r>
          </a:p>
          <a:p>
            <a:pPr lvl="0"/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Расширение</a:t>
            </a:r>
            <a:r>
              <a:rPr lang="ru-RU" dirty="0"/>
              <a:t> областей применения ЭВМ.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578742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7504" y="548680"/>
            <a:ext cx="8723312" cy="990600"/>
          </a:xfrm>
        </p:spPr>
        <p:txBody>
          <a:bodyPr>
            <a:normAutofit fontScale="90000"/>
          </a:bodyPr>
          <a:lstStyle/>
          <a:p>
            <a:r>
              <a:rPr lang="ru-RU" dirty="0"/>
              <a:t>Третье поколение ЭВМ: 1970-1980 годы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39552" y="1412776"/>
            <a:ext cx="8229600" cy="4776192"/>
          </a:xfrm>
        </p:spPr>
        <p:txBody>
          <a:bodyPr>
            <a:normAutofit/>
          </a:bodyPr>
          <a:lstStyle/>
          <a:p>
            <a:r>
              <a:rPr lang="ru-RU" sz="2000" dirty="0"/>
              <a:t>Первыми ЭВМ этого поколения стали модели систем </a:t>
            </a:r>
            <a:r>
              <a:rPr lang="en-US" sz="2000" dirty="0"/>
              <a:t>IBM</a:t>
            </a:r>
            <a:r>
              <a:rPr lang="ru-RU" sz="2000" dirty="0"/>
              <a:t> (ряд моделей </a:t>
            </a:r>
            <a:r>
              <a:rPr lang="en-US" sz="2000" dirty="0"/>
              <a:t>IBM</a:t>
            </a:r>
            <a:r>
              <a:rPr lang="ru-RU" sz="2000" dirty="0"/>
              <a:t> 360) и </a:t>
            </a:r>
            <a:r>
              <a:rPr lang="en-US" sz="2000" dirty="0"/>
              <a:t>DEC</a:t>
            </a:r>
            <a:r>
              <a:rPr lang="ru-RU" sz="2000" dirty="0"/>
              <a:t> (</a:t>
            </a:r>
            <a:r>
              <a:rPr lang="en-US" sz="2000" dirty="0"/>
              <a:t>PDP </a:t>
            </a:r>
            <a:r>
              <a:rPr lang="ru-RU" sz="2000" dirty="0"/>
              <a:t>1).</a:t>
            </a:r>
          </a:p>
          <a:p>
            <a:r>
              <a:rPr lang="ru-RU" sz="2000" dirty="0"/>
              <a:t>В вычислительных машинах третьего поколения значительное внимание уделяется уменьшению трудоемкости программирования, </a:t>
            </a:r>
          </a:p>
          <a:p>
            <a:r>
              <a:rPr lang="ru-RU" sz="2000" dirty="0"/>
              <a:t>эффективности исполнения программ в машинах и улучшению общения оператора с машиной. 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3861048"/>
            <a:ext cx="3810000" cy="2543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2133778" y="6466094"/>
            <a:ext cx="370790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880" lvl="0" indent="-182880">
              <a:spcBef>
                <a:spcPct val="20000"/>
              </a:spcBef>
              <a:buClr>
                <a:srgbClr val="93A299"/>
              </a:buClr>
              <a:buSzPct val="85000"/>
              <a:buFont typeface="Arial" pitchFamily="34" charset="0"/>
              <a:buChar char="•"/>
            </a:pPr>
            <a:r>
              <a:rPr lang="en-US" sz="1200" dirty="0">
                <a:solidFill>
                  <a:srgbClr val="292934"/>
                </a:solidFill>
              </a:rPr>
              <a:t>https://ru.wikipedia.org/wiki/IBM_System/360</a:t>
            </a:r>
            <a:endParaRPr lang="ru-RU" sz="1200" dirty="0">
              <a:solidFill>
                <a:srgbClr val="29293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53014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1628800"/>
            <a:ext cx="8229600" cy="4876800"/>
          </a:xfrm>
        </p:spPr>
        <p:txBody>
          <a:bodyPr/>
          <a:lstStyle/>
          <a:p>
            <a:r>
              <a:rPr lang="ru-RU" dirty="0"/>
              <a:t>Это обеспечивается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мощными</a:t>
            </a:r>
            <a:r>
              <a:rPr lang="ru-RU" dirty="0"/>
              <a:t> операционными системами, </a:t>
            </a:r>
          </a:p>
          <a:p>
            <a:r>
              <a:rPr lang="ru-RU" dirty="0"/>
              <a:t>развитой системой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автоматизации </a:t>
            </a:r>
            <a:r>
              <a:rPr lang="ru-RU" dirty="0"/>
              <a:t>программирования, эффективными системами прерывания программ,</a:t>
            </a:r>
          </a:p>
          <a:p>
            <a:r>
              <a:rPr lang="ru-RU" dirty="0"/>
              <a:t>режимами работы с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разделением</a:t>
            </a:r>
            <a:r>
              <a:rPr lang="ru-RU" dirty="0"/>
              <a:t> машинного времени,</a:t>
            </a:r>
          </a:p>
          <a:p>
            <a:r>
              <a:rPr lang="ru-RU" dirty="0"/>
              <a:t>режимами работы в реальном времени,</a:t>
            </a:r>
          </a:p>
          <a:p>
            <a:r>
              <a:rPr lang="ru-RU" dirty="0"/>
              <a:t>мультипрограммными режимами работы и новыми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интерактивными режимами общения</a:t>
            </a:r>
            <a:r>
              <a:rPr lang="ru-RU" dirty="0"/>
              <a:t>.</a:t>
            </a:r>
          </a:p>
          <a:p>
            <a:r>
              <a:rPr lang="ru-RU" dirty="0"/>
              <a:t>Появилось и эффективное видеотерминальное устройство общения оператора с машиной –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видеомонитор или дисплей</a:t>
            </a:r>
            <a:r>
              <a:rPr lang="ru-RU" dirty="0"/>
              <a:t>.</a:t>
            </a:r>
          </a:p>
          <a:p>
            <a:endParaRPr lang="ru-RU" dirty="0"/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251520" y="476672"/>
            <a:ext cx="8686800" cy="990600"/>
          </a:xfrm>
        </p:spPr>
        <p:txBody>
          <a:bodyPr>
            <a:normAutofit fontScale="90000"/>
          </a:bodyPr>
          <a:lstStyle/>
          <a:p>
            <a:r>
              <a:rPr lang="ru-RU" dirty="0"/>
              <a:t>Третье поколение ЭВМ: 1970-1980 годы</a:t>
            </a:r>
          </a:p>
        </p:txBody>
      </p:sp>
    </p:spTree>
    <p:extLst>
      <p:ext uri="{BB962C8B-B14F-4D97-AF65-F5344CB8AC3E}">
        <p14:creationId xmlns:p14="http://schemas.microsoft.com/office/powerpoint/2010/main" val="9896042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533400"/>
            <a:ext cx="8435280" cy="990600"/>
          </a:xfrm>
        </p:spPr>
        <p:txBody>
          <a:bodyPr>
            <a:normAutofit fontScale="90000"/>
          </a:bodyPr>
          <a:lstStyle/>
          <a:p>
            <a:r>
              <a:rPr lang="ru-RU" dirty="0"/>
              <a:t>Четвертое поколение ЭВМ: 1980-1990 годы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 </a:t>
            </a:r>
          </a:p>
          <a:p>
            <a:r>
              <a:rPr lang="ru-RU" dirty="0"/>
              <a:t>Начиная с 1980 года практически все ЭВМ стали создаваться на основе микропроцессоров. </a:t>
            </a:r>
          </a:p>
          <a:p>
            <a:r>
              <a:rPr lang="ru-RU" dirty="0"/>
              <a:t>Самым востребованным компьютером стал персональный.</a:t>
            </a:r>
          </a:p>
          <a:p>
            <a:r>
              <a:rPr lang="ru-RU" dirty="0"/>
              <a:t>Оперативная память стала строиться не на ферритовых сердечниках, а на интегральных </a:t>
            </a:r>
            <a:r>
              <a:rPr lang="en-US" dirty="0"/>
              <a:t>CMOS</a:t>
            </a:r>
            <a:r>
              <a:rPr lang="ru-RU" dirty="0"/>
              <a:t>-транзисторных схемах, причем непосредственно запоминающим элементом в них служила паразитная емкость между электродами (затвором и истоком) этих транзисторов.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390250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 descr="Вырезка экрана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1988840"/>
            <a:ext cx="8445221" cy="3761417"/>
          </a:xfrm>
        </p:spPr>
      </p:pic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251520" y="620688"/>
            <a:ext cx="8640960" cy="990600"/>
          </a:xfrm>
        </p:spPr>
        <p:txBody>
          <a:bodyPr>
            <a:normAutofit fontScale="90000"/>
          </a:bodyPr>
          <a:lstStyle/>
          <a:p>
            <a:r>
              <a:rPr lang="ru-RU" dirty="0"/>
              <a:t>Четвертое поколение ЭВМ: 1980-1990 годы</a:t>
            </a:r>
          </a:p>
        </p:txBody>
      </p:sp>
    </p:spTree>
    <p:extLst>
      <p:ext uri="{BB962C8B-B14F-4D97-AF65-F5344CB8AC3E}">
        <p14:creationId xmlns:p14="http://schemas.microsoft.com/office/powerpoint/2010/main" val="17321760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Пятое поколение ЭВМ: 1990 год – настоящее время</a:t>
            </a:r>
          </a:p>
        </p:txBody>
      </p:sp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3768" y="3173846"/>
            <a:ext cx="4434216" cy="2969166"/>
          </a:xfrm>
          <a:prstGeom prst="rect">
            <a:avLst/>
          </a:prstGeom>
        </p:spPr>
      </p:pic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94881" y="1700808"/>
            <a:ext cx="8229600" cy="4416152"/>
          </a:xfrm>
        </p:spPr>
        <p:txBody>
          <a:bodyPr>
            <a:normAutofit/>
          </a:bodyPr>
          <a:lstStyle/>
          <a:p>
            <a:pPr lvl="0"/>
            <a:r>
              <a:rPr lang="ru-RU" sz="2000" dirty="0"/>
              <a:t>Компьютеры на сверхсложных микропроцессорах, одновременно выполняющих десятки последовательных инструкций программы.</a:t>
            </a:r>
          </a:p>
          <a:p>
            <a:pPr lvl="0"/>
            <a:r>
              <a:rPr lang="ru-RU" sz="2000" dirty="0"/>
              <a:t>Компьютеры с параллельно работающими процессорами.</a:t>
            </a:r>
          </a:p>
        </p:txBody>
      </p:sp>
    </p:spTree>
    <p:extLst>
      <p:ext uri="{BB962C8B-B14F-4D97-AF65-F5344CB8AC3E}">
        <p14:creationId xmlns:p14="http://schemas.microsoft.com/office/powerpoint/2010/main" val="7602918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Шестое и последующие поколения ЭВМ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Электронные и оптоэлектронные компьютеры с нейронной структурой, с большим числом микропроцессоров, моделирующих архитектуру нейронных биологических систем.</a:t>
            </a:r>
          </a:p>
          <a:p>
            <a:endParaRPr lang="ru-RU" dirty="0"/>
          </a:p>
          <a:p>
            <a:endParaRPr lang="ru-RU" dirty="0"/>
          </a:p>
        </p:txBody>
      </p:sp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104" y="4005064"/>
            <a:ext cx="2517754" cy="2401037"/>
          </a:xfrm>
          <a:prstGeom prst="rect">
            <a:avLst/>
          </a:prstGeom>
        </p:spPr>
      </p:pic>
      <p:pic>
        <p:nvPicPr>
          <p:cNvPr id="5" name="Рисунок 4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3789040"/>
            <a:ext cx="3738806" cy="2387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01163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476672"/>
            <a:ext cx="8229600" cy="990600"/>
          </a:xfrm>
        </p:spPr>
        <p:txBody>
          <a:bodyPr>
            <a:normAutofit fontScale="90000"/>
          </a:bodyPr>
          <a:lstStyle/>
          <a:p>
            <a:r>
              <a:rPr lang="ru-RU" dirty="0"/>
              <a:t>Эволюция компьютерных информационных технологий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6412573"/>
              </p:ext>
            </p:extLst>
          </p:nvPr>
        </p:nvGraphicFramePr>
        <p:xfrm>
          <a:off x="179510" y="1628799"/>
          <a:ext cx="8640964" cy="4824539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40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77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97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18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5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75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2787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 b="1" dirty="0">
                          <a:effectLst/>
                        </a:rPr>
                        <a:t>Параметр</a:t>
                      </a:r>
                      <a:endParaRPr lang="ru-RU" sz="12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 gridSpan="5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 b="1" dirty="0">
                          <a:effectLst/>
                        </a:rPr>
                        <a:t>Этапы развития технологии</a:t>
                      </a:r>
                      <a:endParaRPr lang="ru-RU" sz="12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646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 b="1" dirty="0">
                          <a:effectLst/>
                        </a:rPr>
                        <a:t>50-е годы</a:t>
                      </a:r>
                      <a:endParaRPr lang="ru-RU" sz="12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</a:rPr>
                        <a:t>60-е годы</a:t>
                      </a:r>
                      <a:endParaRPr lang="ru-RU" sz="1200" b="1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</a:rPr>
                        <a:t>70-е годы</a:t>
                      </a:r>
                      <a:endParaRPr lang="ru-RU" sz="1200" b="1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 b="1" dirty="0">
                          <a:effectLst/>
                        </a:rPr>
                        <a:t>80-е годы</a:t>
                      </a:r>
                      <a:endParaRPr lang="ru-RU" sz="12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 b="1" dirty="0">
                          <a:effectLst/>
                        </a:rPr>
                        <a:t>Настоящее время</a:t>
                      </a:r>
                      <a:endParaRPr lang="ru-RU" sz="12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25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Цель использования компьютера (преимущественно)</a:t>
                      </a:r>
                      <a:endParaRPr lang="ru-RU" sz="11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Научно-технические расчеты</a:t>
                      </a:r>
                      <a:endParaRPr lang="ru-RU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Технические и экономические расчеты</a:t>
                      </a:r>
                      <a:endParaRPr lang="ru-RU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Управление и экономические расчеты</a:t>
                      </a:r>
                      <a:endParaRPr lang="ru-RU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Управление, предоставление информации</a:t>
                      </a:r>
                      <a:endParaRPr lang="ru-RU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Телекоммуникации, информационное обслуживание и управление</a:t>
                      </a:r>
                      <a:endParaRPr lang="ru-RU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364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Режим работы компьютера</a:t>
                      </a:r>
                      <a:endParaRPr lang="ru-RU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Однопрограммный	</a:t>
                      </a:r>
                      <a:endParaRPr lang="ru-RU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Пакетная обработка</a:t>
                      </a:r>
                      <a:endParaRPr lang="ru-RU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Разделение времени</a:t>
                      </a:r>
                      <a:endParaRPr lang="ru-RU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Персональная работа</a:t>
                      </a:r>
                      <a:endParaRPr lang="ru-RU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Сетевая обработка</a:t>
                      </a:r>
                      <a:endParaRPr lang="ru-RU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364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Интеграция данный</a:t>
                      </a:r>
                      <a:endParaRPr lang="ru-RU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Низкая</a:t>
                      </a:r>
                      <a:endParaRPr lang="ru-RU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Средняя</a:t>
                      </a:r>
                      <a:endParaRPr lang="ru-RU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Высокая</a:t>
                      </a:r>
                      <a:endParaRPr lang="ru-RU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Очень высокая</a:t>
                      </a:r>
                      <a:endParaRPr lang="ru-RU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Сверхвысокая</a:t>
                      </a:r>
                      <a:endParaRPr lang="ru-RU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364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Расположение пользователя</a:t>
                      </a:r>
                      <a:endParaRPr lang="ru-RU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Машинный зал</a:t>
                      </a:r>
                      <a:endParaRPr lang="ru-RU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Отдельное помещение</a:t>
                      </a:r>
                      <a:endParaRPr lang="ru-RU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Терминальный зал</a:t>
                      </a:r>
                      <a:endParaRPr lang="ru-RU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Рабочий стол</a:t>
                      </a:r>
                      <a:endParaRPr lang="ru-RU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Произвольное мобильное</a:t>
                      </a:r>
                      <a:endParaRPr lang="ru-RU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6204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Тип пользователя</a:t>
                      </a:r>
                      <a:endParaRPr lang="ru-RU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Инженеры-программисты</a:t>
                      </a:r>
                      <a:endParaRPr lang="ru-RU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Профес-сиональные программисты</a:t>
                      </a:r>
                      <a:endParaRPr lang="ru-RU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Программисты</a:t>
                      </a:r>
                      <a:endParaRPr lang="ru-RU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Пользователи с общей компьютерной подготовкой</a:t>
                      </a:r>
                      <a:endParaRPr lang="ru-RU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Мало обученные пользователи</a:t>
                      </a:r>
                      <a:endParaRPr lang="ru-RU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525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Тип интерфейса пользователя</a:t>
                      </a:r>
                      <a:endParaRPr lang="ru-RU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Работа за пультом компьютера</a:t>
                      </a:r>
                      <a:endParaRPr lang="ru-RU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Обмен перфоноси-телями и машиноргам-мами</a:t>
                      </a:r>
                      <a:endParaRPr lang="ru-RU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Интерактивный (через клавиатуру и экран)</a:t>
                      </a:r>
                      <a:endParaRPr lang="ru-RU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Интерактивный с  жестким меню</a:t>
                      </a:r>
                      <a:endParaRPr lang="ru-RU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Интерактивный экранный типа «вопрос-ответ»</a:t>
                      </a:r>
                      <a:endParaRPr lang="ru-RU" sz="12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980630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Основные классы современных ЭВМ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1484784"/>
            <a:ext cx="8229600" cy="5136232"/>
          </a:xfrm>
        </p:spPr>
        <p:txBody>
          <a:bodyPr>
            <a:normAutofit fontScale="92500" lnSpcReduction="10000"/>
          </a:bodyPr>
          <a:lstStyle/>
          <a:p>
            <a:r>
              <a:rPr lang="ru-RU" b="1" dirty="0"/>
              <a:t>Электронная вычислительная машина (ЭВМ)</a:t>
            </a:r>
            <a:r>
              <a:rPr lang="ru-RU" dirty="0"/>
              <a:t>, компьютер – комплекс технических средств, предназначенных для автоматической обработки информации в процессе решения вычислительных и информационных задач.</a:t>
            </a:r>
          </a:p>
          <a:p>
            <a:r>
              <a:rPr lang="ru-RU" b="1" dirty="0"/>
              <a:t>Вычислительные машины могут быть классифицированы по ряду признаков, в частности:</a:t>
            </a:r>
          </a:p>
          <a:p>
            <a:pPr lvl="0"/>
            <a:r>
              <a:rPr lang="ru-RU" dirty="0"/>
              <a:t>по принципу действия;</a:t>
            </a:r>
          </a:p>
          <a:p>
            <a:pPr lvl="0"/>
            <a:r>
              <a:rPr lang="ru-RU" dirty="0"/>
              <a:t>этапам создания и элементной базе;</a:t>
            </a:r>
          </a:p>
          <a:p>
            <a:pPr lvl="0"/>
            <a:r>
              <a:rPr lang="ru-RU" dirty="0"/>
              <a:t>назначению;</a:t>
            </a:r>
          </a:p>
          <a:p>
            <a:pPr lvl="0"/>
            <a:r>
              <a:rPr lang="ru-RU" dirty="0"/>
              <a:t>способу организации вычислительного процесса;</a:t>
            </a:r>
          </a:p>
          <a:p>
            <a:pPr lvl="0"/>
            <a:r>
              <a:rPr lang="ru-RU" dirty="0"/>
              <a:t>размеру и вычислительной мощности;</a:t>
            </a:r>
          </a:p>
          <a:p>
            <a:pPr lvl="0"/>
            <a:r>
              <a:rPr lang="ru-RU" dirty="0"/>
              <a:t>функциональным возможностям;</a:t>
            </a:r>
          </a:p>
          <a:p>
            <a:pPr lvl="0"/>
            <a:r>
              <a:rPr lang="ru-RU" dirty="0"/>
              <a:t>способности к параллельному выполнению программ и т. д.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36133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764704"/>
            <a:ext cx="8229600" cy="990600"/>
          </a:xfrm>
        </p:spPr>
        <p:txBody>
          <a:bodyPr>
            <a:noAutofit/>
          </a:bodyPr>
          <a:lstStyle/>
          <a:p>
            <a:r>
              <a:rPr lang="ru-RU" sz="2800" dirty="0"/>
              <a:t>По принципу действия вычислительные машины делятся на три больших класса : аналоговые, цифровые и гибридные.</a:t>
            </a:r>
            <a:br>
              <a:rPr lang="ru-RU" sz="2800" dirty="0"/>
            </a:br>
            <a:endParaRPr lang="ru-RU" sz="2800" dirty="0"/>
          </a:p>
        </p:txBody>
      </p:sp>
      <p:sp>
        <p:nvSpPr>
          <p:cNvPr id="4" name="Rectangle 11"/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pSp>
        <p:nvGrpSpPr>
          <p:cNvPr id="5" name="Group 1"/>
          <p:cNvGrpSpPr>
            <a:grpSpLocks noChangeAspect="1"/>
          </p:cNvGrpSpPr>
          <p:nvPr/>
        </p:nvGrpSpPr>
        <p:grpSpPr bwMode="auto">
          <a:xfrm>
            <a:off x="611560" y="2169573"/>
            <a:ext cx="7897866" cy="3344180"/>
            <a:chOff x="1418" y="7336"/>
            <a:chExt cx="9600" cy="2400"/>
          </a:xfrm>
        </p:grpSpPr>
        <p:sp>
          <p:nvSpPr>
            <p:cNvPr id="6" name="AutoShape 10"/>
            <p:cNvSpPr>
              <a:spLocks noChangeAspect="1" noChangeArrowheads="1" noTextEdit="1"/>
            </p:cNvSpPr>
            <p:nvPr/>
          </p:nvSpPr>
          <p:spPr bwMode="auto">
            <a:xfrm>
              <a:off x="1418" y="7336"/>
              <a:ext cx="9600" cy="2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3600" dirty="0"/>
            </a:p>
          </p:txBody>
        </p:sp>
        <p:sp>
          <p:nvSpPr>
            <p:cNvPr id="7" name="Text Box 9"/>
            <p:cNvSpPr txBox="1">
              <a:spLocks noChangeArrowheads="1"/>
            </p:cNvSpPr>
            <p:nvPr/>
          </p:nvSpPr>
          <p:spPr bwMode="auto">
            <a:xfrm>
              <a:off x="3458" y="7576"/>
              <a:ext cx="5160" cy="4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Вычислительные машины</a:t>
              </a:r>
              <a:endParaRPr kumimoji="0" 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2618" y="9136"/>
              <a:ext cx="1440" cy="4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АВМ</a:t>
              </a:r>
              <a:endParaRPr kumimoji="0" 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" name="Text Box 7"/>
            <p:cNvSpPr txBox="1">
              <a:spLocks noChangeArrowheads="1"/>
            </p:cNvSpPr>
            <p:nvPr/>
          </p:nvSpPr>
          <p:spPr bwMode="auto">
            <a:xfrm>
              <a:off x="5258" y="9136"/>
              <a:ext cx="1440" cy="4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ru-RU" b="1" dirty="0">
                  <a:latin typeface="Arial" pitchFamily="34" charset="0"/>
                  <a:ea typeface="Times New Roman" pitchFamily="18" charset="0"/>
                  <a:cs typeface="Arial" pitchFamily="34" charset="0"/>
                </a:rPr>
                <a:t>Ц</a:t>
              </a:r>
              <a:r>
                <a:rPr kumimoji="0" lang="ru-RU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ВМ</a:t>
              </a:r>
              <a:endParaRPr kumimoji="0" 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" name="Text Box 6"/>
            <p:cNvSpPr txBox="1">
              <a:spLocks noChangeArrowheads="1"/>
            </p:cNvSpPr>
            <p:nvPr/>
          </p:nvSpPr>
          <p:spPr bwMode="auto">
            <a:xfrm>
              <a:off x="7898" y="9136"/>
              <a:ext cx="1440" cy="4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ru-RU" b="1" dirty="0">
                  <a:latin typeface="Arial" pitchFamily="34" charset="0"/>
                  <a:ea typeface="Times New Roman" pitchFamily="18" charset="0"/>
                  <a:cs typeface="Arial" pitchFamily="34" charset="0"/>
                </a:rPr>
                <a:t>Г</a:t>
              </a:r>
              <a:r>
                <a:rPr kumimoji="0" lang="ru-RU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ВМ</a:t>
              </a:r>
              <a:endParaRPr kumimoji="0" 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" name="Line 5"/>
            <p:cNvSpPr>
              <a:spLocks noChangeShapeType="1"/>
            </p:cNvSpPr>
            <p:nvPr/>
          </p:nvSpPr>
          <p:spPr bwMode="auto">
            <a:xfrm>
              <a:off x="5978" y="8056"/>
              <a:ext cx="0" cy="10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" name="Line 4"/>
            <p:cNvSpPr>
              <a:spLocks noChangeShapeType="1"/>
            </p:cNvSpPr>
            <p:nvPr/>
          </p:nvSpPr>
          <p:spPr bwMode="auto">
            <a:xfrm>
              <a:off x="3338" y="8776"/>
              <a:ext cx="52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" name="Line 3"/>
            <p:cNvSpPr>
              <a:spLocks noChangeShapeType="1"/>
            </p:cNvSpPr>
            <p:nvPr/>
          </p:nvSpPr>
          <p:spPr bwMode="auto">
            <a:xfrm>
              <a:off x="3338" y="8776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" name="Line 2"/>
            <p:cNvSpPr>
              <a:spLocks noChangeShapeType="1"/>
            </p:cNvSpPr>
            <p:nvPr/>
          </p:nvSpPr>
          <p:spPr bwMode="auto">
            <a:xfrm>
              <a:off x="8618" y="8776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53779455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Критерии деления вычислительных машин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ru-RU" dirty="0"/>
              <a:t>ЦВМ (цифровые вычислительные машины), или вычислительные машины дискретного действия, работают с информацией, представленной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 в цифровой</a:t>
            </a:r>
            <a:r>
              <a:rPr lang="ru-RU" dirty="0"/>
              <a:t> форме.</a:t>
            </a:r>
          </a:p>
          <a:p>
            <a:pPr lvl="0"/>
            <a:r>
              <a:rPr lang="ru-RU" dirty="0"/>
              <a:t>АВМ (аналоговые вычислительные машины), или вычислительные машины не прерывного действия, работают с информацией, представленной в непрерывной (аналоговой) форме, то есть в виде непрерывного ряда значений какой-либо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физической величины</a:t>
            </a:r>
            <a:r>
              <a:rPr lang="ru-RU" dirty="0"/>
              <a:t> (чаще всего электрического напряжения).</a:t>
            </a:r>
          </a:p>
          <a:p>
            <a:pPr lvl="0"/>
            <a:r>
              <a:rPr lang="ru-RU" dirty="0"/>
              <a:t>ГВМ (гибридные вычислительные машины), или вычислительные машины комбинированного действия, работают с информацией, представленной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и в цифровой, и в аналоговой форме</a:t>
            </a:r>
            <a:r>
              <a:rPr lang="ru-RU" dirty="0"/>
              <a:t>; они совмещают в себе достоинства АВМ и ЦВМ. ГВМ целесообразно использовать для решения задач управления сложными быстро действующими техническими комплексами.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0437078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533400"/>
            <a:ext cx="8712968" cy="990600"/>
          </a:xfrm>
        </p:spPr>
        <p:txBody>
          <a:bodyPr>
            <a:normAutofit fontScale="90000"/>
          </a:bodyPr>
          <a:lstStyle/>
          <a:p>
            <a:r>
              <a:rPr lang="ru-RU" dirty="0"/>
              <a:t>Две формы представления информации в вычислительных машинах</a:t>
            </a:r>
          </a:p>
        </p:txBody>
      </p:sp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844824"/>
            <a:ext cx="8676456" cy="2880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611560" y="4810219"/>
            <a:ext cx="806489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В экономике (да и в науке и технике) наиболее широкое применение получили ЦВМ с электрическим представлением дискретной информации – электронные цифровые вычислительные машины, обычно называемые просто электронными вычислительными машинами (ЭВМ), без упоминания об их цифровом характере</a:t>
            </a:r>
          </a:p>
        </p:txBody>
      </p:sp>
    </p:spTree>
    <p:extLst>
      <p:ext uri="{BB962C8B-B14F-4D97-AF65-F5344CB8AC3E}">
        <p14:creationId xmlns:p14="http://schemas.microsoft.com/office/powerpoint/2010/main" val="125713063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По назначению компьютеры можно разделить на три группы: </a:t>
            </a:r>
          </a:p>
        </p:txBody>
      </p:sp>
      <p:graphicFrame>
        <p:nvGraphicFramePr>
          <p:cNvPr id="4" name="Схема 3"/>
          <p:cNvGraphicFramePr/>
          <p:nvPr>
            <p:extLst>
              <p:ext uri="{D42A27DB-BD31-4B8C-83A1-F6EECF244321}">
                <p14:modId xmlns:p14="http://schemas.microsoft.com/office/powerpoint/2010/main" val="165228629"/>
              </p:ext>
            </p:extLst>
          </p:nvPr>
        </p:nvGraphicFramePr>
        <p:xfrm>
          <a:off x="395536" y="1772816"/>
          <a:ext cx="8352928" cy="48245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567890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Универсальные компьютеры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/>
              <a:t>Предназначены для решения самых различных инженерно-технических, экономических, математических, информационных и им подобных задач.</a:t>
            </a:r>
          </a:p>
          <a:p>
            <a:pPr marL="0" indent="0">
              <a:buNone/>
            </a:pPr>
            <a:r>
              <a:rPr lang="ru-RU" dirty="0"/>
              <a:t>Характерными чертами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универсальных</a:t>
            </a:r>
            <a:r>
              <a:rPr lang="ru-RU" dirty="0"/>
              <a:t> компьютеров являются:</a:t>
            </a:r>
          </a:p>
          <a:p>
            <a:pPr lvl="0"/>
            <a:r>
              <a:rPr lang="ru-RU" dirty="0"/>
              <a:t>высокая производительность;</a:t>
            </a:r>
          </a:p>
          <a:p>
            <a:pPr lvl="0"/>
            <a:r>
              <a:rPr lang="ru-RU" dirty="0"/>
              <a:t>разнообразие форм обрабатываемых данных: двоичные, десятичные, символьные – при большом диапазоне их изменения и высокой точности их представления;</a:t>
            </a:r>
          </a:p>
          <a:p>
            <a:pPr lvl="0"/>
            <a:r>
              <a:rPr lang="ru-RU" dirty="0"/>
              <a:t>обширная номенклатура выполняемых операций, как арифметических, логических, так и специальных;</a:t>
            </a:r>
          </a:p>
          <a:p>
            <a:pPr lvl="0"/>
            <a:r>
              <a:rPr lang="ru-RU" dirty="0"/>
              <a:t>большая емкость оперативной памяти;</a:t>
            </a:r>
          </a:p>
          <a:p>
            <a:pPr lvl="0"/>
            <a:r>
              <a:rPr lang="ru-RU" dirty="0"/>
              <a:t>развитая организация системы ввода-вывода информации, обеспечивающая подключение разнообразных видов внешних устройств.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5199665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Проблемно-ориентированные компьютеры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Предназначены для решения более узкого круга задач, связанных, как правило, с управлением технологическими объектами и процессами;</a:t>
            </a:r>
          </a:p>
          <a:p>
            <a:pPr marL="0" indent="0">
              <a:buNone/>
            </a:pPr>
            <a:r>
              <a:rPr lang="ru-RU" dirty="0"/>
              <a:t>регистрацией, накоплением и обработкой относительно небольших объемов данных; </a:t>
            </a:r>
          </a:p>
          <a:p>
            <a:pPr marL="0" indent="0">
              <a:buNone/>
            </a:pPr>
            <a:r>
              <a:rPr lang="ru-RU" dirty="0"/>
              <a:t>выполнением расчетов по относительно несложным алгоритмам. </a:t>
            </a:r>
          </a:p>
          <a:p>
            <a:pPr marL="0" indent="0">
              <a:buNone/>
            </a:pPr>
            <a:r>
              <a:rPr lang="ru-RU" dirty="0"/>
              <a:t>Они обладают ограниченными, по сравнению с универсальными компьютерами, аппаратными и программными ресурсами.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3862151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Специализированные компьютеры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Предназначены для решения определенного узкого круга задач или реализации строго определенной группы функций. </a:t>
            </a:r>
          </a:p>
          <a:p>
            <a:pPr marL="0" indent="0">
              <a:buNone/>
            </a:pPr>
            <a:r>
              <a:rPr lang="ru-RU" dirty="0"/>
              <a:t>К специализированным компьютерам можно отнести, например, </a:t>
            </a:r>
          </a:p>
          <a:p>
            <a:r>
              <a:rPr lang="ru-RU" dirty="0"/>
              <a:t>программируемые микропроцессоры специального назначения; </a:t>
            </a:r>
          </a:p>
          <a:p>
            <a:r>
              <a:rPr lang="ru-RU" dirty="0"/>
              <a:t>адаптеры и контроллеры, выполняющие логические функции управления отдельными несложными техническими устройствами, агрегатами и процессами;</a:t>
            </a:r>
          </a:p>
          <a:p>
            <a:r>
              <a:rPr lang="ru-RU" dirty="0"/>
              <a:t>устройства согласования и сопряжения работы узлов вычислительных систем.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7258157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3200" dirty="0"/>
              <a:t>По размерам и вычислительной мощности компьютеры можно разделить на следующие классы: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/>
              <a:t>сверхбольшие (суперкомпьютеры, </a:t>
            </a:r>
            <a:r>
              <a:rPr lang="ru-RU" dirty="0" err="1"/>
              <a:t>суперЭВМ</a:t>
            </a:r>
            <a:r>
              <a:rPr lang="ru-RU" dirty="0"/>
              <a:t>);</a:t>
            </a:r>
          </a:p>
          <a:p>
            <a:pPr lvl="0"/>
            <a:r>
              <a:rPr lang="ru-RU" dirty="0"/>
              <a:t>большие;</a:t>
            </a:r>
          </a:p>
          <a:p>
            <a:pPr lvl="0"/>
            <a:r>
              <a:rPr lang="ru-RU" dirty="0"/>
              <a:t>малые;</a:t>
            </a:r>
          </a:p>
          <a:p>
            <a:pPr lvl="0"/>
            <a:r>
              <a:rPr lang="ru-RU" dirty="0"/>
              <a:t>сверхмалые (микрокомпьютеры или </a:t>
            </a:r>
            <a:r>
              <a:rPr lang="ru-RU" dirty="0" err="1"/>
              <a:t>микроЭВМ</a:t>
            </a:r>
            <a:r>
              <a:rPr lang="ru-RU" dirty="0"/>
              <a:t>).</a:t>
            </a:r>
          </a:p>
          <a:p>
            <a:endParaRPr lang="ru-RU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3717032"/>
            <a:ext cx="8705129" cy="26021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5254911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Функциональные возможности компьютеров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ru-RU" dirty="0"/>
              <a:t>быстродействие (измеряемое усредненным количеством операций, выполняемых машиной за единицу времени);</a:t>
            </a:r>
          </a:p>
          <a:p>
            <a:pPr lvl="0"/>
            <a:r>
              <a:rPr lang="ru-RU" dirty="0"/>
              <a:t>разрядность и формы представления чисел, с которыми оперирует компьютер;</a:t>
            </a:r>
          </a:p>
          <a:p>
            <a:pPr lvl="0"/>
            <a:r>
              <a:rPr lang="ru-RU" dirty="0"/>
              <a:t>номенклатура, емкость и быстродействие всех запоминающих устройств;</a:t>
            </a:r>
          </a:p>
          <a:p>
            <a:pPr lvl="0"/>
            <a:r>
              <a:rPr lang="ru-RU" dirty="0"/>
              <a:t>номенклатура и технико-экономические характеристики внешних устройств хранения, обмена и ввода-вывода информации;</a:t>
            </a:r>
          </a:p>
          <a:p>
            <a:pPr lvl="0"/>
            <a:r>
              <a:rPr lang="ru-RU" dirty="0"/>
              <a:t>типы и пропускная способность устройств связи и сопряжения узлов компьютера между собой (типы используемых </a:t>
            </a:r>
            <a:r>
              <a:rPr lang="ru-RU" dirty="0" err="1"/>
              <a:t>внутримашинных</a:t>
            </a:r>
            <a:r>
              <a:rPr lang="ru-RU" dirty="0"/>
              <a:t> интерфейсов)</a:t>
            </a:r>
          </a:p>
        </p:txBody>
      </p:sp>
    </p:spTree>
    <p:extLst>
      <p:ext uri="{BB962C8B-B14F-4D97-AF65-F5344CB8AC3E}">
        <p14:creationId xmlns:p14="http://schemas.microsoft.com/office/powerpoint/2010/main" val="215890701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ru-RU" dirty="0"/>
              <a:t>способность компьютера одновременно работать с </a:t>
            </a:r>
            <a:r>
              <a:rPr lang="ru-RU" b="1" dirty="0"/>
              <a:t>несколькими пользователями </a:t>
            </a:r>
            <a:r>
              <a:rPr lang="ru-RU" dirty="0"/>
              <a:t>и выполнять параллельно </a:t>
            </a:r>
            <a:r>
              <a:rPr lang="ru-RU" b="1" dirty="0"/>
              <a:t>несколько программ</a:t>
            </a:r>
            <a:r>
              <a:rPr lang="ru-RU" dirty="0"/>
              <a:t>;</a:t>
            </a:r>
          </a:p>
          <a:p>
            <a:pPr lvl="0"/>
            <a:r>
              <a:rPr lang="ru-RU" dirty="0"/>
              <a:t>наличие и функциональные возможности программного обеспечения;</a:t>
            </a:r>
          </a:p>
          <a:p>
            <a:pPr lvl="0"/>
            <a:r>
              <a:rPr lang="ru-RU" dirty="0"/>
              <a:t>способность выполнять программы, написанные для других типов компьютеров;</a:t>
            </a:r>
          </a:p>
          <a:p>
            <a:pPr lvl="0"/>
            <a:r>
              <a:rPr lang="ru-RU" dirty="0"/>
              <a:t>система и структура машинных команд;</a:t>
            </a:r>
          </a:p>
          <a:p>
            <a:pPr lvl="0"/>
            <a:r>
              <a:rPr lang="ru-RU" dirty="0"/>
              <a:t>возможность подключения к каналам связи и к вычислительным сетям;</a:t>
            </a:r>
          </a:p>
          <a:p>
            <a:pPr lvl="0"/>
            <a:r>
              <a:rPr lang="ru-RU" dirty="0"/>
              <a:t>эксплуатационная надежность компьютера;</a:t>
            </a:r>
          </a:p>
          <a:p>
            <a:pPr lvl="0"/>
            <a:r>
              <a:rPr lang="ru-RU" dirty="0"/>
              <a:t>коэффициент полезного использования компьютера во времени  (соотношение времени полезной работы и времени профилактики).</a:t>
            </a:r>
          </a:p>
          <a:p>
            <a:endParaRPr lang="ru-RU" dirty="0"/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Функциональные возможности компьютеров </a:t>
            </a:r>
          </a:p>
        </p:txBody>
      </p:sp>
    </p:spTree>
    <p:extLst>
      <p:ext uri="{BB962C8B-B14F-4D97-AF65-F5344CB8AC3E}">
        <p14:creationId xmlns:p14="http://schemas.microsoft.com/office/powerpoint/2010/main" val="198712220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Большие компьютеры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Большие компьютеры за рубежом часто называют </a:t>
            </a:r>
            <a:r>
              <a:rPr lang="ru-RU" dirty="0" err="1"/>
              <a:t>мэйнфреймами</a:t>
            </a:r>
            <a:r>
              <a:rPr lang="ru-RU" dirty="0"/>
              <a:t> (</a:t>
            </a:r>
            <a:r>
              <a:rPr lang="en-US" dirty="0"/>
              <a:t>mainframe</a:t>
            </a:r>
            <a:r>
              <a:rPr lang="ru-RU" dirty="0"/>
              <a:t>); к ним относят, как правило, компьютеры, имеющие:</a:t>
            </a:r>
          </a:p>
          <a:p>
            <a:pPr lvl="0"/>
            <a:r>
              <a:rPr lang="ru-RU" dirty="0"/>
              <a:t>производительность не менее 100 </a:t>
            </a:r>
            <a:r>
              <a:rPr lang="en-US" dirty="0"/>
              <a:t>MIPS</a:t>
            </a:r>
            <a:r>
              <a:rPr lang="ru-RU" dirty="0"/>
              <a:t> (единица измерения быстродействия, равная одному миллиону инструкций в секунду)</a:t>
            </a:r>
            <a:r>
              <a:rPr lang="en-US" dirty="0"/>
              <a:t>;</a:t>
            </a:r>
            <a:endParaRPr lang="ru-RU" dirty="0"/>
          </a:p>
          <a:p>
            <a:pPr lvl="0"/>
            <a:r>
              <a:rPr lang="ru-RU" dirty="0"/>
              <a:t>основную память емкостью от 512 до 10 000 Мбайт;</a:t>
            </a:r>
          </a:p>
          <a:p>
            <a:pPr lvl="0"/>
            <a:r>
              <a:rPr lang="ru-RU" dirty="0"/>
              <a:t>внешнюю память не менее 100 Гбайт;</a:t>
            </a:r>
          </a:p>
          <a:p>
            <a:pPr lvl="0"/>
            <a:r>
              <a:rPr lang="ru-RU" dirty="0"/>
              <a:t>многопользовательский режим работы (обслуживают одновременно от 16 до 1000 пользователей).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3831923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Основные направления эффективного применения </a:t>
            </a:r>
            <a:r>
              <a:rPr lang="ru-RU" dirty="0" err="1"/>
              <a:t>мэйнфреймов</a:t>
            </a:r>
            <a:r>
              <a:rPr lang="ru-RU" dirty="0"/>
              <a:t>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5536" y="1772816"/>
            <a:ext cx="8229600" cy="4876800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Решение научно-технических задач, работа в вычислительных системах с пакетной обработкой информации, работа с большими базами данных, управление вычислительными сетями и их ресурсами.</a:t>
            </a:r>
          </a:p>
          <a:p>
            <a:pPr marL="0" indent="0">
              <a:buNone/>
            </a:pPr>
            <a:r>
              <a:rPr lang="ru-RU" dirty="0"/>
              <a:t>Последнее направление – использование </a:t>
            </a:r>
            <a:r>
              <a:rPr lang="ru-RU" dirty="0" err="1"/>
              <a:t>мэйнфреймов</a:t>
            </a:r>
            <a:r>
              <a:rPr lang="ru-RU" dirty="0"/>
              <a:t> в качестве </a:t>
            </a:r>
            <a:r>
              <a:rPr lang="ru-RU" b="1" dirty="0"/>
              <a:t>больших серверов </a:t>
            </a:r>
            <a:r>
              <a:rPr lang="ru-RU" dirty="0"/>
              <a:t>вычислительных сетей – часто отмечается специалистами как наиболее актуальное.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9660379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764704"/>
            <a:ext cx="8229600" cy="990600"/>
          </a:xfrm>
        </p:spPr>
        <p:txBody>
          <a:bodyPr>
            <a:normAutofit fontScale="90000"/>
          </a:bodyPr>
          <a:lstStyle/>
          <a:p>
            <a:r>
              <a:rPr lang="ru-RU" dirty="0"/>
              <a:t>Зарубежными фирмами рейтинг </a:t>
            </a:r>
            <a:r>
              <a:rPr lang="ru-RU" dirty="0" err="1"/>
              <a:t>мэйнфреймов</a:t>
            </a:r>
            <a:r>
              <a:rPr lang="ru-RU" dirty="0"/>
              <a:t> определяется по показателям: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2132856"/>
            <a:ext cx="8229600" cy="4344144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ru-RU" dirty="0"/>
              <a:t>надежность;</a:t>
            </a:r>
          </a:p>
          <a:p>
            <a:pPr lvl="0"/>
            <a:r>
              <a:rPr lang="ru-RU" dirty="0"/>
              <a:t>производительность;</a:t>
            </a:r>
          </a:p>
          <a:p>
            <a:pPr lvl="0"/>
            <a:r>
              <a:rPr lang="ru-RU" dirty="0"/>
              <a:t>емкость основной и внешней памяти;</a:t>
            </a:r>
          </a:p>
          <a:p>
            <a:pPr lvl="0"/>
            <a:r>
              <a:rPr lang="ru-RU" dirty="0"/>
              <a:t>время обращения к основной памяти;</a:t>
            </a:r>
          </a:p>
          <a:p>
            <a:pPr lvl="0"/>
            <a:r>
              <a:rPr lang="ru-RU" dirty="0"/>
              <a:t>время доступа и трансфер внешних запоминающих устройств;</a:t>
            </a:r>
          </a:p>
          <a:p>
            <a:pPr lvl="0"/>
            <a:r>
              <a:rPr lang="ru-RU" dirty="0"/>
              <a:t>характеристики кэш-памяти;</a:t>
            </a:r>
          </a:p>
          <a:p>
            <a:pPr lvl="0"/>
            <a:r>
              <a:rPr lang="ru-RU" dirty="0"/>
              <a:t>количество каналов и эффективность системы ввода-вывода;</a:t>
            </a:r>
          </a:p>
          <a:p>
            <a:pPr lvl="0"/>
            <a:r>
              <a:rPr lang="ru-RU" dirty="0"/>
              <a:t>аппаратная и программная совместимость с другими компьютерами;</a:t>
            </a:r>
          </a:p>
          <a:p>
            <a:pPr lvl="0"/>
            <a:r>
              <a:rPr lang="ru-RU" dirty="0"/>
              <a:t>поддержка сети и т. д.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7886933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Малые компьютеры (</a:t>
            </a:r>
            <a:r>
              <a:rPr lang="ru-RU" dirty="0" err="1"/>
              <a:t>мини-ЭВМ</a:t>
            </a:r>
            <a:r>
              <a:rPr lang="ru-RU" dirty="0"/>
              <a:t>)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Надежные, недорогие и удобные в эксплуатации компьютеры, обладающие несколько более низкими, по сравнению с </a:t>
            </a:r>
            <a:r>
              <a:rPr lang="ru-RU" dirty="0" err="1"/>
              <a:t>мэйнфреймами</a:t>
            </a:r>
            <a:r>
              <a:rPr lang="ru-RU" dirty="0"/>
              <a:t>, возможностями. </a:t>
            </a:r>
          </a:p>
          <a:p>
            <a:pPr marL="0" indent="0">
              <a:buNone/>
            </a:pPr>
            <a:r>
              <a:rPr lang="ru-RU" dirty="0"/>
              <a:t>Мини-компьютеры (и наиболее мощные из них </a:t>
            </a:r>
            <a:r>
              <a:rPr lang="ru-RU" i="1" dirty="0"/>
              <a:t>суперминикомпьютеры</a:t>
            </a:r>
            <a:r>
              <a:rPr lang="ru-RU" dirty="0"/>
              <a:t>) обладают следующими характеристиками:</a:t>
            </a:r>
          </a:p>
          <a:p>
            <a:pPr lvl="0"/>
            <a:r>
              <a:rPr lang="ru-RU" dirty="0"/>
              <a:t>емкость основной памяти – до 8000 Мбайт;</a:t>
            </a:r>
          </a:p>
          <a:p>
            <a:pPr lvl="0"/>
            <a:r>
              <a:rPr lang="ru-RU" dirty="0"/>
              <a:t>емкость дисковой памяти – до 1000 Гбайт;</a:t>
            </a:r>
          </a:p>
          <a:p>
            <a:pPr lvl="0"/>
            <a:r>
              <a:rPr lang="ru-RU" dirty="0"/>
              <a:t>число поддерживаемых пользователей – 16-1024.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2637484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Основные особенности мини-компьютеров: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457200">
              <a:spcBef>
                <a:spcPts val="0"/>
              </a:spcBef>
            </a:pPr>
            <a:r>
              <a:rPr lang="ru-RU" sz="2000" dirty="0"/>
              <a:t>Все модели разрабатываются на основе микропроцессорных наборов интегральных микросхем, 32,64 и 128-разрядных микропроцессоров. </a:t>
            </a:r>
          </a:p>
          <a:p>
            <a:pPr marL="0" lvl="1" indent="457200">
              <a:spcBef>
                <a:spcPts val="0"/>
              </a:spcBef>
            </a:pPr>
            <a:r>
              <a:rPr lang="ru-RU" dirty="0"/>
              <a:t>широкий диапазон производительности в конкретных условиях применения;</a:t>
            </a:r>
          </a:p>
          <a:p>
            <a:pPr marL="0" lvl="1" indent="457200">
              <a:spcBef>
                <a:spcPts val="0"/>
              </a:spcBef>
            </a:pPr>
            <a:r>
              <a:rPr lang="ru-RU" dirty="0"/>
              <a:t>аппаратная реализация большинства системных функций ввода-вывода информации;</a:t>
            </a:r>
          </a:p>
          <a:p>
            <a:pPr marL="0" lvl="1" indent="457200">
              <a:spcBef>
                <a:spcPts val="0"/>
              </a:spcBef>
            </a:pPr>
            <a:r>
              <a:rPr lang="ru-RU" dirty="0"/>
              <a:t>простая реализация многопроцессорных и многомашинных систем;</a:t>
            </a:r>
          </a:p>
          <a:p>
            <a:pPr marL="0" lvl="1" indent="457200">
              <a:spcBef>
                <a:spcPts val="0"/>
              </a:spcBef>
            </a:pPr>
            <a:r>
              <a:rPr lang="ru-RU" dirty="0"/>
              <a:t>возможность работы с форматами данных различной длины. </a:t>
            </a:r>
          </a:p>
          <a:p>
            <a:pPr marL="0" lvl="1" indent="0">
              <a:spcBef>
                <a:spcPts val="0"/>
              </a:spcBef>
              <a:buNone/>
            </a:pPr>
            <a:r>
              <a:rPr lang="ru-RU" dirty="0"/>
              <a:t>К достоинствам мини-компьютеров можно отнести:</a:t>
            </a:r>
          </a:p>
          <a:p>
            <a:pPr marL="0" lvl="1" indent="457200">
              <a:spcBef>
                <a:spcPts val="0"/>
              </a:spcBef>
            </a:pPr>
            <a:r>
              <a:rPr lang="ru-RU" dirty="0"/>
              <a:t>специфичную архитектуру с большой модульностью;</a:t>
            </a:r>
          </a:p>
          <a:p>
            <a:pPr marL="0" lvl="1" indent="457200">
              <a:spcBef>
                <a:spcPts val="0"/>
              </a:spcBef>
            </a:pPr>
            <a:r>
              <a:rPr lang="ru-RU" dirty="0"/>
              <a:t>лучшее, чем у </a:t>
            </a:r>
            <a:r>
              <a:rPr lang="ru-RU" dirty="0" err="1"/>
              <a:t>мэйнфреймов</a:t>
            </a:r>
            <a:r>
              <a:rPr lang="ru-RU" dirty="0"/>
              <a:t>, соотношение производительность/цена;</a:t>
            </a:r>
          </a:p>
          <a:p>
            <a:pPr marL="0" lvl="1" indent="457200">
              <a:spcBef>
                <a:spcPts val="0"/>
              </a:spcBef>
            </a:pPr>
            <a:r>
              <a:rPr lang="ru-RU" dirty="0"/>
              <a:t>повышенную точность вычислений.</a:t>
            </a:r>
          </a:p>
          <a:p>
            <a:pPr marL="0" indent="0">
              <a:spcBef>
                <a:spcPts val="0"/>
              </a:spcBef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409827079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Микрокомпьютеры</a:t>
            </a:r>
            <a:br>
              <a:rPr lang="ru-RU" dirty="0"/>
            </a:br>
            <a:endParaRPr lang="ru-RU" dirty="0"/>
          </a:p>
        </p:txBody>
      </p:sp>
      <p:pic>
        <p:nvPicPr>
          <p:cNvPr id="5" name="Рисунок 4" descr="Вырезка экрана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2492896"/>
            <a:ext cx="7668141" cy="3932841"/>
          </a:xfrm>
          <a:prstGeom prst="rect">
            <a:avLst/>
          </a:prstGeom>
        </p:spPr>
      </p:pic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280248"/>
          </a:xfrm>
        </p:spPr>
        <p:txBody>
          <a:bodyPr/>
          <a:lstStyle/>
          <a:p>
            <a:r>
              <a:rPr lang="ru-RU" dirty="0"/>
              <a:t>Микрокомпьютеры весьма многочисленны и разнообразны. Среди них можно выделить несколько подклассов: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5666180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229600" cy="990600"/>
          </a:xfrm>
        </p:spPr>
        <p:txBody>
          <a:bodyPr/>
          <a:lstStyle/>
          <a:p>
            <a:r>
              <a:rPr lang="ru-RU" dirty="0"/>
              <a:t>Классификация микрокомпьютеров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1196752"/>
            <a:ext cx="8229600" cy="4876800"/>
          </a:xfrm>
        </p:spPr>
        <p:txBody>
          <a:bodyPr>
            <a:noAutofit/>
          </a:bodyPr>
          <a:lstStyle/>
          <a:p>
            <a:pPr lvl="0"/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Многопользовательские микрокомпьютеры </a:t>
            </a:r>
            <a:r>
              <a:rPr lang="ru-RU" dirty="0"/>
              <a:t>– это мощные микрокомпьютеры, оборудованные несколькими видеотерминалами и функционирующие в режиме разделения времени, что позволяет эффективно работать на них сразу нескольким пользователям.</a:t>
            </a:r>
          </a:p>
          <a:p>
            <a:pPr lvl="0"/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Персональные компьютеры </a:t>
            </a:r>
            <a:r>
              <a:rPr lang="ru-RU" dirty="0"/>
              <a:t>– однопользовательские микрокомпьютеры, удовлетворяющие требованиям общедоступности и универсальности применения.</a:t>
            </a:r>
          </a:p>
          <a:p>
            <a:pPr lvl="0"/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Рабочие станции (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workstation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) </a:t>
            </a:r>
            <a:r>
              <a:rPr lang="ru-RU" dirty="0"/>
              <a:t>представляют собой однопользовательские микрокомпьютеры для работы в вычислительных сетях, часто специализированные для выполнения определенного вида работ (графических, инженерных, издательских и т. д.).</a:t>
            </a:r>
          </a:p>
        </p:txBody>
      </p:sp>
    </p:spTree>
    <p:extLst>
      <p:ext uri="{BB962C8B-B14F-4D97-AF65-F5344CB8AC3E}">
        <p14:creationId xmlns:p14="http://schemas.microsoft.com/office/powerpoint/2010/main" val="128482006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b="1" dirty="0">
                <a:solidFill>
                  <a:schemeClr val="tx2">
                    <a:lumMod val="75000"/>
                  </a:schemeClr>
                </a:solidFill>
              </a:rPr>
              <a:t>Серверы (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server</a:t>
            </a:r>
            <a:r>
              <a:rPr lang="ru-RU" b="1" dirty="0">
                <a:solidFill>
                  <a:schemeClr val="tx2">
                    <a:lumMod val="75000"/>
                  </a:schemeClr>
                </a:solidFill>
              </a:rPr>
              <a:t>) </a:t>
            </a:r>
            <a:r>
              <a:rPr lang="ru-RU" dirty="0"/>
              <a:t>– многопользовательские мощные микрокомпьютеры в вычислительных сетях, выделенные для обработки запросов от всех рабочих станций сети.</a:t>
            </a:r>
          </a:p>
          <a:p>
            <a:pPr lvl="0"/>
            <a:r>
              <a:rPr lang="ru-RU" b="1" dirty="0">
                <a:solidFill>
                  <a:schemeClr val="tx2">
                    <a:lumMod val="75000"/>
                  </a:schemeClr>
                </a:solidFill>
              </a:rPr>
              <a:t>Сетевые компьютеры (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network computer</a:t>
            </a:r>
            <a:r>
              <a:rPr lang="ru-RU" b="1" dirty="0">
                <a:solidFill>
                  <a:schemeClr val="tx2">
                    <a:lumMod val="75000"/>
                  </a:schemeClr>
                </a:solidFill>
              </a:rPr>
              <a:t>)</a:t>
            </a:r>
            <a:r>
              <a:rPr lang="ru-RU" b="1" dirty="0"/>
              <a:t> – </a:t>
            </a:r>
            <a:r>
              <a:rPr lang="ru-RU" dirty="0"/>
              <a:t>упрощенные микрокомпьютеры, обеспечивающие работу в сети и доступ к сетевым ресурсам, часто специализированные на выполнение определенного вида работ (защита сети от несанкционированного доступа, организация просмотра сетевых ресурсов, электронной почты и т. д.).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Классификация микрокомпьютеров</a:t>
            </a:r>
          </a:p>
        </p:txBody>
      </p:sp>
    </p:spTree>
    <p:extLst>
      <p:ext uri="{BB962C8B-B14F-4D97-AF65-F5344CB8AC3E}">
        <p14:creationId xmlns:p14="http://schemas.microsoft.com/office/powerpoint/2010/main" val="191117034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Персональные компьютеры</a:t>
            </a:r>
          </a:p>
        </p:txBody>
      </p:sp>
      <p:sp>
        <p:nvSpPr>
          <p:cNvPr id="4" name="Заголовок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/>
              <a:t>Персональные компьютеры (ПК) относятся к классу микрокомпьютеров, но ввиду их массовой распространенности заслуживают особого внимания. </a:t>
            </a:r>
          </a:p>
          <a:p>
            <a:pPr marL="0" indent="0">
              <a:buNone/>
            </a:pPr>
            <a:r>
              <a:rPr lang="ru-RU" dirty="0"/>
              <a:t>ПК для удовлетворения требованиям общедоступности и универсальности применения должны обладать следующими качествами:</a:t>
            </a:r>
          </a:p>
          <a:p>
            <a:pPr lvl="0"/>
            <a:r>
              <a:rPr lang="ru-RU" dirty="0"/>
              <a:t>малая стоимость ПК;</a:t>
            </a:r>
          </a:p>
          <a:p>
            <a:pPr lvl="0"/>
            <a:r>
              <a:rPr lang="ru-RU" dirty="0"/>
              <a:t>автономность эксплуатации без специальных требований к условиям окружающей среды;</a:t>
            </a:r>
          </a:p>
          <a:p>
            <a:pPr lvl="0"/>
            <a:r>
              <a:rPr lang="ru-RU" dirty="0"/>
              <a:t>гибкость архитектуры, обеспечивающая ее </a:t>
            </a:r>
            <a:r>
              <a:rPr lang="ru-RU" dirty="0" err="1"/>
              <a:t>адаптируемость</a:t>
            </a:r>
            <a:r>
              <a:rPr lang="ru-RU" dirty="0"/>
              <a:t> к разнообразным применениям в сфере управления, науки, образования, в быту;</a:t>
            </a:r>
          </a:p>
          <a:p>
            <a:pPr lvl="0"/>
            <a:r>
              <a:rPr lang="ru-RU" dirty="0"/>
              <a:t>дружественность операционной системы и прочего программного обеспечения;</a:t>
            </a:r>
          </a:p>
          <a:p>
            <a:pPr lvl="0"/>
            <a:r>
              <a:rPr lang="ru-RU" dirty="0"/>
              <a:t>высокая надежность работы.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747236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Классификация ПК по конструктивные особенностям</a:t>
            </a:r>
          </a:p>
        </p:txBody>
      </p:sp>
      <p:pic>
        <p:nvPicPr>
          <p:cNvPr id="4" name="Объект 3" descr="Вырезка экрана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694" y="1844824"/>
            <a:ext cx="9129275" cy="4018628"/>
          </a:xfrm>
        </p:spPr>
      </p:pic>
    </p:spTree>
    <p:extLst>
      <p:ext uri="{BB962C8B-B14F-4D97-AF65-F5344CB8AC3E}">
        <p14:creationId xmlns:p14="http://schemas.microsoft.com/office/powerpoint/2010/main" val="138641083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Суперкомпьютеры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К суперкомпьютерам относятся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мощные многопроцессорные</a:t>
            </a:r>
            <a:r>
              <a:rPr lang="ru-RU" dirty="0"/>
              <a:t> вычислительные машины с быстродействием сотни миллионов – десятки миллиардов операций в секунду.</a:t>
            </a:r>
          </a:p>
          <a:p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Суперкомпьютеры</a:t>
            </a:r>
            <a:r>
              <a:rPr lang="ru-RU" dirty="0"/>
              <a:t> применяются для решения таких сложных вычислительных задач, как задачи обеспечения государственной безопасности, задачи исследования космоса, метеопрогнозы (в том числе предсказание мощности и траекторий движения ураганов, прогнозирование глобального потепления), биохимические исследования животных и человека, контроль работоспособности ядерного оружия и надежности АЭС и др.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42487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Источники информации и изображений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sz="1400" dirty="0"/>
              <a:t>Материал  по дисциплине «Архитектура аппаратных средств» </a:t>
            </a:r>
            <a:r>
              <a:rPr lang="en-US" sz="1400" dirty="0">
                <a:hlinkClick r:id="rId2"/>
              </a:rPr>
              <a:t>https://znanio.ru/media/lektsionnyj_material_po_distsipline_arhitektura_apparatnyh_sredstv-320796/356118</a:t>
            </a:r>
            <a:endParaRPr lang="ru-RU" sz="1400" dirty="0"/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hlinkClick r:id="rId3"/>
              </a:rPr>
              <a:t>http://besm-6.ru/besm-series.html</a:t>
            </a:r>
            <a:endParaRPr lang="ru-RU" sz="1400" dirty="0"/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hlinkClick r:id="rId4"/>
              </a:rPr>
              <a:t>https://yandex.ru/images/search?from=tabbar&amp;source-serpid=IuVovURkuaG8bN7cTfkxgw&amp;nomisspell=1&amp;text=%D1%81%D0%BC%D0%BE%D1%82%D1%80%D0%B5%D1%82%D1%8C%20%D1%82%D0%B5%D0%BB%D0%B5%D0%B2%D0%B8%D0%B7%D0%BE%D1%80%20%D1%80%D0%B8%D1%81%D1%83%D0%BD%D0%BE%D0%BA&amp;source=related-0&amp;pos=2&amp;rpt=simage&amp;img_url=https%3A%2F%2Fcdn.coloringtop.com%2Fsites%2Fdefault%2Ffiles%2Fraskraska-televizor23.jpg</a:t>
            </a:r>
            <a:endParaRPr lang="ru-RU" sz="1400" dirty="0"/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hlinkClick r:id="rId5"/>
              </a:rPr>
              <a:t>https://yandex.ru/images/search?text=%D0%BC%D0%BE%D0%B4%D0%B5%D0%BB%D1%8C%20%D0%B2%20%D1%85%D0%B8%D0%BC%D0%B8%D0%B8&amp;from=tabbar&amp;pos=5&amp;img_url=https%3A%2F%2Fstatic.turbosquid.com%2FPreview%2F001287%2F153%2FH0%2F_D.jpg&amp;rpt=simage</a:t>
            </a:r>
            <a:endParaRPr lang="ru-RU" sz="1400" dirty="0"/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hlinkClick r:id="rId6"/>
              </a:rPr>
              <a:t>https://yandex.ru/images/search?text=%D0%BC%D0%BE%D0%B4%D0%B5%D0%BB%D1%8C%20%D0%B2%20%D0%BF%D1%80%D0%BE%D0%B3%D1%80%D0%B0%D0%BC%D0%BC%D0%B8%D1%80%D0%BE%D0%B2%D0%B0%D0%BD%D0%B8%D0%B8&amp;from=tabbar&amp;pos=0&amp;img_url=https%3A%2F%2Fcf.ppt-online.org%2Ffiles%2Fslide%2Fa%2Faj6FDbpz3GloiNd0Xmn92SqBYCLgxhkTAKeZOV%2Fslide-4.jpg&amp;rpt=simage</a:t>
            </a:r>
            <a:endParaRPr lang="ru-RU" sz="1400" dirty="0"/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hlinkClick r:id="rId7"/>
              </a:rPr>
              <a:t>https://yandex.ru/images/search?from=tabbar&amp;text=%D0%B3%D0%BB%D0%BE%D0%B1%D1%83%D1%81%20%D0%BC%D0%BE%D0%B4%D0%B5%D0%BB%D1%8C%20%D0%B7%D0%B5%D0%BC%D0%BB%D0%B8&amp;pos=0&amp;img_url=https%3A%2F%2Fcf.ppt-online.org%2Ffiles2%2Fslide%2Fo%2FoUGmWC6ipJwDFqQArXcedRnzEI2PMyVk4l17KB5hS%2Fslide-3.jpg&amp;rpt=simage</a:t>
            </a:r>
            <a:endParaRPr lang="ru-RU" sz="1400" dirty="0"/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https://yandex.ru/images/search?text=%D0%B8%20%D1%81%D1%87%D0%B5%D1%82%D0%BD%D0%BE-%D0%B0%D0%BD%D0%B0%D0%BB%D0%B8%D1%82%D0%B8%D1%87%D0%B5%D1%81%D0%BA%D0%B8%D1%85%20%D0%BC%D0%B0%D1%88%D0%B8%D0%BD%20%D0%BD%D0%B0%20%D0%BF%D0%B5%D1%80%D1%84%D0%BE%D0%BA%D0%B0%D1%80%D1%82%D0%B0%D1%85&amp;from=tabbar&amp;pos=29&amp;img_url=https%3A%2F%2Fcitrusdev.com.ua%2Fuploads%2Fimages%2Farticle%2F36%2F______________6_.png&amp;rpt=simage</a:t>
            </a:r>
            <a:endParaRPr lang="ru-RU" sz="1400" dirty="0"/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hlinkClick r:id="rId8"/>
              </a:rPr>
              <a:t>https://yandex.ru/images/search?text=%D0%B0%D0%B1%D0%B0%D0%BA&amp;from=tabbar&amp;pos=15&amp;img_url=https%3A%2F%2Fthumbnailer.mixcloud.com%2Funsafe%2F900x900%2Fextaudio%2Fe%2F4%2Fb%2F2%2F13cd-d65c-4e8f-98da-71478794a898&amp;rpt=simage</a:t>
            </a:r>
            <a:endParaRPr lang="ru-RU" sz="1400" dirty="0"/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hlinkClick r:id="rId9"/>
              </a:rPr>
              <a:t>https://ru.wikipedia.org/wiki/%D0%9D%D0%B5%D0%B9%D0%BC%D0%B0%D0%BD,_%D0%94%D0%B6%D0%BE%D0%BD_%D1%84%D0%BE%D0%BD</a:t>
            </a:r>
            <a:endParaRPr lang="ru-RU" sz="1400" dirty="0"/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hlinkClick r:id="rId10"/>
              </a:rPr>
              <a:t>https://yandex.ru/search/?lr=213&amp;text=%D0%BF%D0%B5%D1%80%D1%81%D0%BE%D0%BD%D0%B0%D0%BB%D1%8C%D0%BD%D1%8B%D0%B9%20%D0%BA%D0%BE%D0%BC%D0%BF%D1%8C%D1%8E%D1%82%D0%B5%D1%80%2080-%D1%85%20%D0%B3%D0%BE%D0%B4%D0%BE%D0%B2</a:t>
            </a:r>
            <a:endParaRPr lang="ru-RU" sz="1400" dirty="0"/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https://yandex.ru/images/search?from=tabbar&amp;text=%D0%BA%D0%BE%D0%BC%D0%BF%D1%8C%D1%8E%D1%82%D0%B5%D1%80&amp;pos=4&amp;img_url=https%3A%2F%2Fstatic3.depositphotos.com%2F1000749%2F141%2Fv%2F950%2Fdepositphotos_1412194-stock-illustration-computer.jpg&amp;rpt=simage</a:t>
            </a:r>
            <a:endParaRPr lang="ru-RU" sz="1400" dirty="0"/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https://yandex.ru/images/search?text=%D0%BA%D0%BE%D0%BC%D0%BF%D1%8C%D1%8E%D1%82%D0%B5%D1%80%D1%8B%20%D0%B1%D1%83%D0%B4%D1%83%D1%89%D0%B5%D0%B3%D0%BE&amp;from=tabbar&amp;pos=1&amp;img_url=https%3A%2F%2Fautogear.ru%2Fmisc%2Fi%2Fgallery%2F47188%2F2670282.jpg&amp;rpt=simage</a:t>
            </a:r>
            <a:endParaRPr lang="ru-RU" sz="1400" dirty="0"/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https://yandex.ru/images/search?text=%D0%BA%D0%BE%D0%BC%D0%BF%D1%8C%D1%8E%D1%82%D0%B5%D1%80%D1%8B%20%D0%B1%D1%83%D0%B4%D1%83%D1%89%D0%B5%D0%B3%D0%BE&amp;from=tabbar&amp;pos=3&amp;img_url=https%3A%2F%2Fwww.premiumlogics.com%2Fwp-content%2Fuploads%2F2017%2F07%2F30a7018bd7a59a852f4177295208dd55.jpg&amp;rpt=simage</a:t>
            </a:r>
            <a:endParaRPr lang="ru-RU" sz="1400" dirty="0"/>
          </a:p>
          <a:p>
            <a:pPr marL="342900" indent="-342900">
              <a:buFont typeface="+mj-lt"/>
              <a:buAutoNum type="arabicPeriod"/>
            </a:pPr>
            <a:endParaRPr lang="ru-RU" sz="1400" dirty="0"/>
          </a:p>
          <a:p>
            <a:pPr marL="342900" indent="-342900">
              <a:buFont typeface="+mj-lt"/>
              <a:buAutoNum type="arabicPeriod"/>
            </a:pPr>
            <a:endParaRPr lang="ru-RU" sz="14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2418631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3140968"/>
            <a:ext cx="8229600" cy="990600"/>
          </a:xfrm>
        </p:spPr>
        <p:txBody>
          <a:bodyPr/>
          <a:lstStyle/>
          <a:p>
            <a:pPr algn="ctr"/>
            <a:r>
              <a:rPr lang="ru-RU" dirty="0"/>
              <a:t>Благодарю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80783497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Ясность">
  <a:themeElements>
    <a:clrScheme name="Ясность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Классическая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Ясность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695</TotalTime>
  <Words>5097</Words>
  <Application>Microsoft Office PowerPoint</Application>
  <PresentationFormat>Экран (4:3)</PresentationFormat>
  <Paragraphs>345</Paragraphs>
  <Slides>64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64</vt:i4>
      </vt:variant>
    </vt:vector>
  </HeadingPairs>
  <TitlesOfParts>
    <vt:vector size="67" baseType="lpstr">
      <vt:lpstr>Arial</vt:lpstr>
      <vt:lpstr>Times New Roman</vt:lpstr>
      <vt:lpstr>Ясность</vt:lpstr>
      <vt:lpstr>   Лекция № 1  Понятия аппаратных средств ЭВМ, архитектуры аппаратных средств. История развития вычислительных устройств и приборов. Классификация ЭВМ  Дисциплина: Архитектура аппаратных средств</vt:lpstr>
      <vt:lpstr>Терминология</vt:lpstr>
      <vt:lpstr>Терминология</vt:lpstr>
      <vt:lpstr>Терминология</vt:lpstr>
      <vt:lpstr>Научные предпосылки создания ЭВМ</vt:lpstr>
      <vt:lpstr>Основные особенности кибернетики: </vt:lpstr>
      <vt:lpstr>Основные особенности кибернетики:</vt:lpstr>
      <vt:lpstr>Под «черным ящиком» понимается система…</vt:lpstr>
      <vt:lpstr>Важным методом кибернетики является метод моделирования</vt:lpstr>
      <vt:lpstr>Информация и ее особенности</vt:lpstr>
      <vt:lpstr>Технические предпосылки и практические потребности создания ЭВМ</vt:lpstr>
      <vt:lpstr>Механические счетные машины</vt:lpstr>
      <vt:lpstr>Механические счетные машины</vt:lpstr>
      <vt:lpstr>Электромеханические счетные машины</vt:lpstr>
      <vt:lpstr>Направления развития электромеханических машин</vt:lpstr>
      <vt:lpstr>Развитие электромеханических машин с перфокартами</vt:lpstr>
      <vt:lpstr>Электронные вычислительные машины</vt:lpstr>
      <vt:lpstr>Древо родственных связей ранних компьютеров  50-х и 60-х годов. Корень – ENIAC  (материал из Википедии)</vt:lpstr>
      <vt:lpstr>Основные принципы организации ЭВМ по Джону фон Нейману</vt:lpstr>
      <vt:lpstr>Основные принципы организации ЭВМ по Джону фон Нейману</vt:lpstr>
      <vt:lpstr>Основные принципы организации ЭВМ по Джону фон Нейману</vt:lpstr>
      <vt:lpstr>Структура ЭВМ по Джону фон Нейману</vt:lpstr>
      <vt:lpstr>Структура ЭВМ по Джону фон Нейману</vt:lpstr>
      <vt:lpstr>Электронные счетные машины в СССР</vt:lpstr>
      <vt:lpstr>Блок-схема БЭСМ</vt:lpstr>
      <vt:lpstr>Эволюция ЭВМ</vt:lpstr>
      <vt:lpstr>Первое поколение ЭВМ: 1950-1960 годы</vt:lpstr>
      <vt:lpstr>Первое поколение ЭВМ: 1950-1960 годы</vt:lpstr>
      <vt:lpstr>Первое поколение ЭВМ: 1950-1960 годы</vt:lpstr>
      <vt:lpstr>Первое поколение ЭВМ: 1950-1960 годы</vt:lpstr>
      <vt:lpstr>Второе поколение ЭВМ: 1960-1970 годы</vt:lpstr>
      <vt:lpstr>Второе поколение ЭВМ: 1960-1970 годы</vt:lpstr>
      <vt:lpstr>Основные направления совершенствования ЭВМ второго поколения: </vt:lpstr>
      <vt:lpstr>Третье поколение ЭВМ: 1970-1980 годы</vt:lpstr>
      <vt:lpstr>Третье поколение ЭВМ: 1970-1980 годы</vt:lpstr>
      <vt:lpstr>Четвертое поколение ЭВМ: 1980-1990 годы</vt:lpstr>
      <vt:lpstr>Четвертое поколение ЭВМ: 1980-1990 годы</vt:lpstr>
      <vt:lpstr>Пятое поколение ЭВМ: 1990 год – настоящее время</vt:lpstr>
      <vt:lpstr>Шестое и последующие поколения ЭВМ</vt:lpstr>
      <vt:lpstr>Эволюция компьютерных информационных технологий</vt:lpstr>
      <vt:lpstr>Основные классы современных ЭВМ</vt:lpstr>
      <vt:lpstr>По принципу действия вычислительные машины делятся на три больших класса : аналоговые, цифровые и гибридные. </vt:lpstr>
      <vt:lpstr>Критерии деления вычислительных машин </vt:lpstr>
      <vt:lpstr>Две формы представления информации в вычислительных машинах</vt:lpstr>
      <vt:lpstr>По назначению компьютеры можно разделить на три группы: </vt:lpstr>
      <vt:lpstr>Универсальные компьютеры </vt:lpstr>
      <vt:lpstr>Проблемно-ориентированные компьютеры </vt:lpstr>
      <vt:lpstr>Специализированные компьютеры </vt:lpstr>
      <vt:lpstr>По размерам и вычислительной мощности компьютеры можно разделить на следующие классы: </vt:lpstr>
      <vt:lpstr>Функциональные возможности компьютеров </vt:lpstr>
      <vt:lpstr>Функциональные возможности компьютеров </vt:lpstr>
      <vt:lpstr>Большие компьютеры</vt:lpstr>
      <vt:lpstr>Основные направления эффективного применения мэйнфреймов </vt:lpstr>
      <vt:lpstr>Зарубежными фирмами рейтинг мэйнфреймов определяется по показателям:</vt:lpstr>
      <vt:lpstr>Малые компьютеры (мини-ЭВМ) </vt:lpstr>
      <vt:lpstr>Основные особенности мини-компьютеров:</vt:lpstr>
      <vt:lpstr>Микрокомпьютеры </vt:lpstr>
      <vt:lpstr>Классификация микрокомпьютеров</vt:lpstr>
      <vt:lpstr>Классификация микрокомпьютеров</vt:lpstr>
      <vt:lpstr>Персональные компьютеры</vt:lpstr>
      <vt:lpstr>Классификация ПК по конструктивные особенностям</vt:lpstr>
      <vt:lpstr>Суперкомпьютеры</vt:lpstr>
      <vt:lpstr>Источники информации и изображений</vt:lpstr>
      <vt:lpstr>Благодарю за внимание!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Вычислительные устройства и приборы, история вопроса  Дисциплина: Архитектура аппаратных средств</dc:title>
  <dc:creator>Данил</dc:creator>
  <cp:lastModifiedBy>teacher</cp:lastModifiedBy>
  <cp:revision>46</cp:revision>
  <dcterms:created xsi:type="dcterms:W3CDTF">2019-09-01T11:24:41Z</dcterms:created>
  <dcterms:modified xsi:type="dcterms:W3CDTF">2025-09-08T12:04:48Z</dcterms:modified>
</cp:coreProperties>
</file>